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0" r:id="rId8"/>
    <p:sldId id="262" r:id="rId9"/>
    <p:sldId id="263" r:id="rId10"/>
    <p:sldId id="264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A4F0-2819-88F9-CBB4-53524AED0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B1F9D-9EE8-20E9-0E8F-AEAFD3D7E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18EAC-A383-98A6-A4E5-492D6A38D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4C42A-EAE7-19E0-2975-F9427E27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F04A5-C365-D454-B949-1914400D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ABBAC-F6DD-A6E3-4552-2E5C71D6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6AA90-A24D-9F52-70D7-8D926345D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1E42C-0C91-6B31-6E69-C11A112E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B3997-9F92-D9D2-CDDF-4E8C979D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9FF9D-A482-CBE8-16B6-83C708AF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2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C11F-EB7C-6BE8-FF02-5C2894BA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BB3A0-F7A3-9DE9-38F3-7958DF035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F514D-E305-FE02-9B0E-C0C1C876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FD09B-1C36-06DB-B7F2-71882B11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6596-992E-1958-D931-64C2B742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1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F9A2-C8AF-9BE2-EE7B-EC6FE70DE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2C81F-427B-10C8-A4A6-B7A6D9E7C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A3157-9143-A7BB-11F7-97A207483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3EA07-5D42-4456-6B3C-4AE5CC4E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25B1C-F97E-0463-DEC2-A824B5D5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53D03-31C1-9B9C-4F47-3DDCC59C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87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C9A5-AB47-540D-E378-B6076B29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9914B-2A70-6004-D8E6-30FA9B13F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003DC-DE4D-CD31-02AF-D14A89FCB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1A7801-A7E4-3D5B-CE57-918AD7E04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101F5-274A-8C80-D02E-32AAF99D5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D88F8-4790-BC9E-062A-9C2D2128F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50038F-7A9A-C043-2664-2A74E8FD0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56FAD-FC78-9CAC-38B6-61217168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5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3A42-030E-0ABF-463C-B3838F8C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25A33-7B5A-E427-55E4-433CA42A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FE984-E74B-DBEF-11C3-B43964E0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2E41A-8208-625B-82A1-20EF0581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6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744B6A-CF28-7214-C48F-246C92E0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4C0524-663B-CA90-B656-E3C8A1DF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FCB29-F349-CABF-2D94-827868D8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7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C0C1-4AD8-E30C-94AB-9546B2D3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4CFD7-5557-1E3B-81AB-982D1AE7A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2BF67-9385-992B-AFC5-229E420C8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4CBE0-BACB-98C0-1AA1-1E31EE437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8607B-DEBD-B4D2-C57B-6436DC4D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AE95C-8D82-1E3B-F865-FE8D9715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5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ED52E-C6DD-130E-D815-E857D4E0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7C6D8-DD6C-E955-A559-32337946F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11D8A-EDA8-435F-2CFD-9A3295DA2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8EF2F-A648-76AB-621C-1262EABA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EA73B-33D6-CF6D-1275-65AC6B795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E485B-E324-C901-FC5E-590963CD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0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9117-3256-3D23-70C6-D5F1B6B1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A5FBE-F6AF-6429-A55B-0F61E9619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37A53-ED57-B8FF-FC79-9D728616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8046F-858A-EF36-CF39-82CAD204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A617-0D0C-04BB-CE05-F8FAE0B2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52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0BE72D-E0BF-495D-D840-CD4D63302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B938E-74C9-8FB6-B0E3-8B9E13EC9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D50FD-04CA-F360-67B4-D39313E9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87F66-5C35-713E-DC2F-6E8A7012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09862-2FBF-3F27-8380-68E268DA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3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B8C2EB-86BB-17E8-B382-F6F9C665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0F2F3-F96F-74B6-6B23-A369F5803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4F628-C3A4-3224-EAC8-56D18E85C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E62C1-D606-A842-A9D9-F095304CC86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8FF5D-6103-C0E7-59EA-1B0216524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E244C-ECD1-B3A3-9C60-73A201D7C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2FFF5-FDEA-454E-A906-E36DD77F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79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B496-D936-148A-B53C-82768FECA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Cyber Hygiene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181B2-C8AA-4F68-1699-179D2296AF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Detailed Discussion for Level 1 Solo, Level 1 Small, </a:t>
            </a:r>
            <a:br>
              <a:rPr lang="en-US" dirty="0"/>
            </a:br>
            <a:r>
              <a:rPr lang="en-US" dirty="0"/>
              <a:t>and Level 2 Small</a:t>
            </a:r>
          </a:p>
        </p:txBody>
      </p:sp>
    </p:spTree>
    <p:extLst>
      <p:ext uri="{BB962C8B-B14F-4D97-AF65-F5344CB8AC3E}">
        <p14:creationId xmlns:p14="http://schemas.microsoft.com/office/powerpoint/2010/main" val="118234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0A82-61FD-31B5-DDD8-B05190878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4CCC2-E2B3-81B4-85C9-09B122C07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Government contracts, particularly those involving Controlled Unclassified Information (CUI), mandate robust cybersecurity.</a:t>
            </a:r>
          </a:p>
          <a:p>
            <a:r>
              <a:rPr lang="en-US" dirty="0"/>
              <a:t> NIST SP 800-171 specifies 110 controls across 14 families for CUI protection, while </a:t>
            </a:r>
          </a:p>
          <a:p>
            <a:r>
              <a:rPr lang="en-US" dirty="0"/>
              <a:t>CMMC 2.0 enforces tiered assessments at </a:t>
            </a:r>
          </a:p>
          <a:p>
            <a:pPr lvl="1"/>
            <a:r>
              <a:rPr lang="en-US" dirty="0"/>
              <a:t>Level 1 (basic hygiene, self-assessed), </a:t>
            </a:r>
          </a:p>
          <a:p>
            <a:pPr lvl="1"/>
            <a:r>
              <a:rPr lang="en-US" dirty="0"/>
              <a:t>Level 2 (full 800-171 alignment, self- or third-party assessed), and </a:t>
            </a:r>
          </a:p>
          <a:p>
            <a:pPr lvl="1"/>
            <a:r>
              <a:rPr lang="en-US" dirty="0"/>
              <a:t>higher tiers for advanced threats. </a:t>
            </a:r>
          </a:p>
          <a:p>
            <a:r>
              <a:rPr lang="en-US" dirty="0"/>
              <a:t>For VSBs, compliance investments (often $50,000+ in tools, audits, and training) act as a disincentive, limiting DIB participation to larger firms that are more able to absorb the compliance costs.</a:t>
            </a:r>
          </a:p>
        </p:txBody>
      </p:sp>
    </p:spTree>
    <p:extLst>
      <p:ext uri="{BB962C8B-B14F-4D97-AF65-F5344CB8AC3E}">
        <p14:creationId xmlns:p14="http://schemas.microsoft.com/office/powerpoint/2010/main" val="365564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1FED-7496-9188-3268-87E951A2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458C4-9CA0-0408-B940-3BE5D6211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Levels</a:t>
            </a:r>
          </a:p>
          <a:p>
            <a:pPr lvl="1"/>
            <a:r>
              <a:rPr lang="en-US" dirty="0"/>
              <a:t>Level 1 – Federal Contract Information</a:t>
            </a:r>
          </a:p>
          <a:p>
            <a:pPr lvl="1"/>
            <a:r>
              <a:rPr lang="en-US" dirty="0"/>
              <a:t>Level 2 – Controlled Unclassified Information</a:t>
            </a:r>
          </a:p>
          <a:p>
            <a:r>
              <a:rPr lang="en-US" dirty="0"/>
              <a:t>My tiered approach for very small businesses </a:t>
            </a:r>
          </a:p>
          <a:p>
            <a:pPr lvl="1"/>
            <a:r>
              <a:rPr lang="en-US" dirty="0"/>
              <a:t>A. Solopreneurs i.e., a one-person businesses at primarily Level 1</a:t>
            </a:r>
          </a:p>
          <a:p>
            <a:pPr lvl="1"/>
            <a:r>
              <a:rPr lang="en-US" dirty="0"/>
              <a:t>B. Very Small Businesses with &lt;10 – 15 employees at Level 1 </a:t>
            </a:r>
          </a:p>
          <a:p>
            <a:pPr lvl="1"/>
            <a:r>
              <a:rPr lang="en-US" dirty="0"/>
              <a:t>C. Very Small Business at or intending to enter Level 2</a:t>
            </a:r>
          </a:p>
          <a:p>
            <a:r>
              <a:rPr lang="en-US" dirty="0"/>
              <a:t>Future growth to incorporate AI in a management role</a:t>
            </a:r>
          </a:p>
        </p:txBody>
      </p:sp>
    </p:spTree>
    <p:extLst>
      <p:ext uri="{BB962C8B-B14F-4D97-AF65-F5344CB8AC3E}">
        <p14:creationId xmlns:p14="http://schemas.microsoft.com/office/powerpoint/2010/main" val="98757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D5A5-578C-612E-7F92-E007FE58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“A” Tier – Solopreneur FCI Only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FDD55-073F-FE3F-603C-8F2992924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0847"/>
            <a:ext cx="5638800" cy="4902028"/>
          </a:xfrm>
        </p:spPr>
        <p:txBody>
          <a:bodyPr/>
          <a:lstStyle/>
          <a:p>
            <a:r>
              <a:rPr lang="en-US" dirty="0"/>
              <a:t>Basic Cyber Hygiene </a:t>
            </a:r>
          </a:p>
          <a:p>
            <a:r>
              <a:rPr lang="en-US" dirty="0"/>
              <a:t>Meeting the 15 FAR 52.204-21 requirements</a:t>
            </a:r>
          </a:p>
          <a:p>
            <a:r>
              <a:rPr lang="en-US" dirty="0"/>
              <a:t>Technical requirements met with a properly configured (Hardened) computer</a:t>
            </a:r>
          </a:p>
          <a:p>
            <a:r>
              <a:rPr lang="en-US" dirty="0"/>
              <a:t>Administrative requirements met through templated documentation</a:t>
            </a:r>
          </a:p>
          <a:p>
            <a:r>
              <a:rPr lang="en-US" dirty="0"/>
              <a:t>Very low cost (&lt; $1,000) investment</a:t>
            </a:r>
          </a:p>
        </p:txBody>
      </p:sp>
      <p:pic>
        <p:nvPicPr>
          <p:cNvPr id="11" name="Picture 10" descr="A close-up of a computer&#10;&#10;AI-generated content may be incorrect.">
            <a:extLst>
              <a:ext uri="{FF2B5EF4-FFF2-40B4-BE49-F238E27FC236}">
                <a16:creationId xmlns:a16="http://schemas.microsoft.com/office/drawing/2014/main" id="{793235EF-4843-8B0B-F548-A231A7B70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590847"/>
            <a:ext cx="6169928" cy="341372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5F6D8CE-1628-134B-32C1-4E65F5E6CDC8}"/>
              </a:ext>
            </a:extLst>
          </p:cNvPr>
          <p:cNvSpPr/>
          <p:nvPr/>
        </p:nvSpPr>
        <p:spPr>
          <a:xfrm>
            <a:off x="3414574" y="5768630"/>
            <a:ext cx="83202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Currently Undergoing Test</a:t>
            </a:r>
          </a:p>
        </p:txBody>
      </p:sp>
    </p:spTree>
    <p:extLst>
      <p:ext uri="{BB962C8B-B14F-4D97-AF65-F5344CB8AC3E}">
        <p14:creationId xmlns:p14="http://schemas.microsoft.com/office/powerpoint/2010/main" val="1851801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834D-C91F-CD9D-F8ED-C26114279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“A” Tier Architecture and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04399-6D84-DBF1-127A-53EACBF04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324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Based on low cost (reused) PC hardware – separate from other systems that might be used for personal purposes like internet surfing, social media etc.</a:t>
            </a:r>
          </a:p>
          <a:p>
            <a:r>
              <a:rPr lang="en-US" dirty="0"/>
              <a:t>Operating system is Rocky Linux 9.6 – a derivative of Red Hat Linux and fully hardened to meet NIST 800-171 requirements (Level 2)</a:t>
            </a:r>
          </a:p>
          <a:p>
            <a:r>
              <a:rPr lang="en-US" dirty="0"/>
              <a:t>Office software from Only Office (free) or Libre Office (free) Both provide feature for feature compatibility with MS Office 365</a:t>
            </a:r>
          </a:p>
          <a:p>
            <a:r>
              <a:rPr lang="en-US" dirty="0"/>
              <a:t>Thunderbird free email client – provides functionality similar to Outlook</a:t>
            </a:r>
          </a:p>
          <a:p>
            <a:r>
              <a:rPr lang="en-US" dirty="0" err="1"/>
              <a:t>ProjectLibre</a:t>
            </a:r>
            <a:r>
              <a:rPr lang="en-US" dirty="0"/>
              <a:t> – free project management software that is compatible with and works like MS Project</a:t>
            </a:r>
          </a:p>
          <a:p>
            <a:r>
              <a:rPr lang="en-US" dirty="0"/>
              <a:t>Dozens of other applications are available to download and install from a built-in software library.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A3DC8B-45AC-B90E-44FD-3115C046AD24}"/>
              </a:ext>
            </a:extLst>
          </p:cNvPr>
          <p:cNvSpPr/>
          <p:nvPr/>
        </p:nvSpPr>
        <p:spPr>
          <a:xfrm>
            <a:off x="2114198" y="5715298"/>
            <a:ext cx="83202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Currently Undergoing Test</a:t>
            </a:r>
          </a:p>
        </p:txBody>
      </p:sp>
    </p:spTree>
    <p:extLst>
      <p:ext uri="{BB962C8B-B14F-4D97-AF65-F5344CB8AC3E}">
        <p14:creationId xmlns:p14="http://schemas.microsoft.com/office/powerpoint/2010/main" val="2080429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9CFF-9642-84CA-6F5B-1541EC98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on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95109-3612-9342-5A05-4D6525B1E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633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Level 1 Compliance also requires a number of of administrative or non-technical requirements including:</a:t>
            </a:r>
          </a:p>
          <a:p>
            <a:pPr lvl="1"/>
            <a:r>
              <a:rPr lang="en-US" dirty="0"/>
              <a:t>Physical Security </a:t>
            </a:r>
          </a:p>
          <a:p>
            <a:pPr lvl="1"/>
            <a:r>
              <a:rPr lang="en-US" dirty="0"/>
              <a:t>Personnel Security </a:t>
            </a:r>
          </a:p>
          <a:p>
            <a:pPr lvl="1"/>
            <a:r>
              <a:rPr lang="en-US" dirty="0"/>
              <a:t>Awareness and Training</a:t>
            </a:r>
          </a:p>
          <a:p>
            <a:pPr lvl="1"/>
            <a:r>
              <a:rPr lang="en-US" dirty="0"/>
              <a:t>Media storage and handling</a:t>
            </a:r>
          </a:p>
          <a:p>
            <a:r>
              <a:rPr lang="en-US" dirty="0"/>
              <a:t>Policy and Procedures covering the above plus the following are required</a:t>
            </a:r>
          </a:p>
          <a:p>
            <a:pPr lvl="1"/>
            <a:r>
              <a:rPr lang="en-US" dirty="0"/>
              <a:t>Acceptable Use</a:t>
            </a:r>
          </a:p>
          <a:p>
            <a:pPr lvl="1"/>
            <a:r>
              <a:rPr lang="en-US" dirty="0"/>
              <a:t>Incident monitoring and reporting</a:t>
            </a:r>
          </a:p>
          <a:p>
            <a:pPr lvl="1"/>
            <a:r>
              <a:rPr lang="en-US" dirty="0"/>
              <a:t>Change control</a:t>
            </a:r>
          </a:p>
          <a:p>
            <a:pPr lvl="1"/>
            <a:r>
              <a:rPr lang="en-US" dirty="0"/>
              <a:t>Risk Management</a:t>
            </a:r>
          </a:p>
          <a:p>
            <a:r>
              <a:rPr lang="en-US" dirty="0"/>
              <a:t>Templated procedures are available/provided  for the solopreneur but will need “expert” advice to tailor to meet the needs. </a:t>
            </a:r>
          </a:p>
        </p:txBody>
      </p:sp>
    </p:spTree>
    <p:extLst>
      <p:ext uri="{BB962C8B-B14F-4D97-AF65-F5344CB8AC3E}">
        <p14:creationId xmlns:p14="http://schemas.microsoft.com/office/powerpoint/2010/main" val="2837113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1F7A2-5775-0130-C145-C7C4B3F1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“A” Tier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EDF3F-CC1A-E0BA-EFC4-42A08CBF8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424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Solopreneur would need some 3</a:t>
            </a:r>
            <a:r>
              <a:rPr lang="en-US" baseline="30000" dirty="0"/>
              <a:t>rd</a:t>
            </a:r>
            <a:r>
              <a:rPr lang="en-US" dirty="0"/>
              <a:t> party technical support to install and connect their computer to their network properly.</a:t>
            </a:r>
          </a:p>
          <a:p>
            <a:pPr lvl="1"/>
            <a:r>
              <a:rPr lang="en-US" dirty="0"/>
              <a:t>Recommend the computer be on a ‘sub-net’ to isolate it from other devices that may share that connection</a:t>
            </a:r>
          </a:p>
          <a:p>
            <a:pPr lvl="1"/>
            <a:r>
              <a:rPr lang="en-US" dirty="0"/>
              <a:t>Recommend business-class internet service separate from home network</a:t>
            </a:r>
          </a:p>
          <a:p>
            <a:pPr lvl="1"/>
            <a:r>
              <a:rPr lang="en-US" dirty="0"/>
              <a:t>Recommend a business-class firewall (optional at this Level but a sound investment for future growth and priced at about $500).</a:t>
            </a:r>
          </a:p>
          <a:p>
            <a:r>
              <a:rPr lang="en-US" dirty="0"/>
              <a:t>Total time for (TBD) 3</a:t>
            </a:r>
            <a:r>
              <a:rPr lang="en-US" baseline="30000" dirty="0"/>
              <a:t>rd</a:t>
            </a:r>
            <a:r>
              <a:rPr lang="en-US" dirty="0"/>
              <a:t> party roughly 4 – 5 hours at a typical billing rate of 150 – 200 / hour.</a:t>
            </a:r>
          </a:p>
          <a:p>
            <a:r>
              <a:rPr lang="en-US" dirty="0"/>
              <a:t>The (TBD) 3</a:t>
            </a:r>
            <a:r>
              <a:rPr lang="en-US" baseline="30000" dirty="0"/>
              <a:t>rd</a:t>
            </a:r>
            <a:r>
              <a:rPr lang="en-US" dirty="0"/>
              <a:t> party provides routine technical support post installation in accordance with their service agreement.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9CDB0C-E89E-3718-80AD-56BA612427A2}"/>
              </a:ext>
            </a:extLst>
          </p:cNvPr>
          <p:cNvSpPr/>
          <p:nvPr/>
        </p:nvSpPr>
        <p:spPr>
          <a:xfrm>
            <a:off x="479305" y="5661878"/>
            <a:ext cx="1011174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Planned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55584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83A73-1067-3D7B-7B92-C0DE1734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“A” Tier Level 1 Implementation (notional)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C69CC-DC93-2DFD-A305-FBBAC674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59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solopreneur identifies a desire to participate.</a:t>
            </a:r>
          </a:p>
          <a:p>
            <a:r>
              <a:rPr lang="en-US" dirty="0"/>
              <a:t>The (TBD) 3</a:t>
            </a:r>
            <a:r>
              <a:rPr lang="en-US" baseline="30000" dirty="0"/>
              <a:t>rd</a:t>
            </a:r>
            <a:r>
              <a:rPr lang="en-US" dirty="0"/>
              <a:t> party agent initiates an annual support agreement with them and works with them to identify and/or procure a suitable laptop or desktop computer (specs provided in attachment)</a:t>
            </a:r>
          </a:p>
          <a:p>
            <a:r>
              <a:rPr lang="en-US" dirty="0"/>
              <a:t>The (TBD) 3</a:t>
            </a:r>
            <a:r>
              <a:rPr lang="en-US" baseline="30000" dirty="0"/>
              <a:t>rd</a:t>
            </a:r>
            <a:r>
              <a:rPr lang="en-US" dirty="0"/>
              <a:t> party agent duplicates the master distribution disk onto a suitable media (new SSD @ $40 – 60 or existing HDD from target system) (about 30 minutes)</a:t>
            </a:r>
          </a:p>
          <a:p>
            <a:r>
              <a:rPr lang="en-US" dirty="0"/>
              <a:t>The (TBD) 3</a:t>
            </a:r>
            <a:r>
              <a:rPr lang="en-US" baseline="30000" dirty="0"/>
              <a:t>rd</a:t>
            </a:r>
            <a:r>
              <a:rPr lang="en-US" dirty="0"/>
              <a:t> party  installs the replacement SSD in the A Tier computer, starts it, and creates accounts for the solopreneur and any additional users (less than 1 hour)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75788C-0AAB-8B2A-3FDB-BD951F83671D}"/>
              </a:ext>
            </a:extLst>
          </p:cNvPr>
          <p:cNvSpPr/>
          <p:nvPr/>
        </p:nvSpPr>
        <p:spPr>
          <a:xfrm>
            <a:off x="942601" y="5661878"/>
            <a:ext cx="1011174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Planned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992094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1229-94DD-75B3-BCC2-177E6DCC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1A53A-7780-FC0C-0EEC-644AFD9E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“A” Tier Level 1 Implementation (notional)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E1046-7BD4-B273-1907-D01098EF1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977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(TBD) 3</a:t>
            </a:r>
            <a:r>
              <a:rPr lang="en-US" baseline="30000" dirty="0"/>
              <a:t>rd</a:t>
            </a:r>
            <a:r>
              <a:rPr lang="en-US" dirty="0"/>
              <a:t> party connects the A Tier system to the solopreneur’s internet access point.  This could be 5 minutes or, in the case of adding a business class firewall it could be an hour.  </a:t>
            </a:r>
          </a:p>
          <a:p>
            <a:r>
              <a:rPr lang="en-US" dirty="0"/>
              <a:t>Optional.  The (TBD) 3</a:t>
            </a:r>
            <a:r>
              <a:rPr lang="en-US" baseline="30000" dirty="0"/>
              <a:t>rd</a:t>
            </a:r>
            <a:r>
              <a:rPr lang="en-US" dirty="0"/>
              <a:t> party sets up VPN access to the system for remote support (15 minutes)</a:t>
            </a:r>
          </a:p>
          <a:p>
            <a:r>
              <a:rPr lang="en-US" dirty="0"/>
              <a:t>The (TBD) 3</a:t>
            </a:r>
            <a:r>
              <a:rPr lang="en-US" baseline="30000" dirty="0"/>
              <a:t>rd</a:t>
            </a:r>
            <a:r>
              <a:rPr lang="en-US" dirty="0"/>
              <a:t> party  assists the solopreneur in setting up their email accounts on the new system (15 Minutes)</a:t>
            </a:r>
          </a:p>
          <a:p>
            <a:r>
              <a:rPr lang="en-US" dirty="0"/>
              <a:t>The (TBD) 3</a:t>
            </a:r>
            <a:r>
              <a:rPr lang="en-US" baseline="30000" dirty="0"/>
              <a:t>rd</a:t>
            </a:r>
            <a:r>
              <a:rPr lang="en-US" dirty="0"/>
              <a:t> party discusses the templated policy and procedure documents with the solopreneur and  identifies areas where they may need some updates or revisions and provides overall training on the system. (2 – 3 hours maximum)</a:t>
            </a:r>
          </a:p>
          <a:p>
            <a:r>
              <a:rPr lang="en-US" dirty="0"/>
              <a:t>The (TBD) 3</a:t>
            </a:r>
            <a:r>
              <a:rPr lang="en-US" baseline="30000" dirty="0"/>
              <a:t>rd</a:t>
            </a:r>
            <a:r>
              <a:rPr lang="en-US" dirty="0"/>
              <a:t> party  runs </a:t>
            </a:r>
            <a:r>
              <a:rPr lang="en-US" dirty="0" err="1"/>
              <a:t>OpenScap</a:t>
            </a:r>
            <a:r>
              <a:rPr lang="en-US" dirty="0"/>
              <a:t> and saves the report documenting full NIST compliance by the workstation before leaving. (5 minutes)</a:t>
            </a:r>
          </a:p>
          <a:p>
            <a:r>
              <a:rPr lang="en-US" dirty="0"/>
              <a:t>Done.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5301E-B80A-9BC7-06AE-9B0F77FEE91D}"/>
              </a:ext>
            </a:extLst>
          </p:cNvPr>
          <p:cNvSpPr/>
          <p:nvPr/>
        </p:nvSpPr>
        <p:spPr>
          <a:xfrm>
            <a:off x="1242058" y="6027003"/>
            <a:ext cx="1011174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Planned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3355157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0431-CE29-0C9E-6C1C-E8245517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that’s what we have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EB2C-31F8-F3BE-BAB3-4BB508A15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960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Secure ‘solo’ workstation for “1- Man Band”</a:t>
            </a:r>
          </a:p>
          <a:p>
            <a:pPr lvl="1"/>
            <a:r>
              <a:rPr lang="en-US" dirty="0"/>
              <a:t>Hardware secured via configuration managed by </a:t>
            </a:r>
            <a:r>
              <a:rPr lang="en-US" dirty="0" err="1"/>
              <a:t>OpenScap</a:t>
            </a:r>
            <a:endParaRPr lang="en-US" dirty="0"/>
          </a:p>
          <a:p>
            <a:pPr lvl="1"/>
            <a:r>
              <a:rPr lang="en-US" dirty="0"/>
              <a:t>Updates are automatically identified and installed with owner permission</a:t>
            </a:r>
          </a:p>
          <a:p>
            <a:pPr lvl="1"/>
            <a:r>
              <a:rPr lang="en-US" dirty="0"/>
              <a:t>Antimalware installed</a:t>
            </a:r>
          </a:p>
          <a:p>
            <a:pPr lvl="1"/>
            <a:r>
              <a:rPr lang="en-US" dirty="0"/>
              <a:t>FIPS 140 level encryption implemented</a:t>
            </a:r>
          </a:p>
          <a:p>
            <a:pPr lvl="1"/>
            <a:r>
              <a:rPr lang="en-US" dirty="0"/>
              <a:t>Access controls (passwords, separate admin account, zero trust) all in place via hardening</a:t>
            </a:r>
          </a:p>
          <a:p>
            <a:r>
              <a:rPr lang="en-US" dirty="0"/>
              <a:t>Templated policies</a:t>
            </a:r>
          </a:p>
          <a:p>
            <a:pPr lvl="1"/>
            <a:r>
              <a:rPr lang="en-US" dirty="0"/>
              <a:t>System Security Plan offered but optional at Level 1</a:t>
            </a:r>
          </a:p>
          <a:p>
            <a:pPr lvl="1"/>
            <a:r>
              <a:rPr lang="en-US" dirty="0"/>
              <a:t>Supporting policies and procedures in templated form</a:t>
            </a:r>
          </a:p>
          <a:p>
            <a:r>
              <a:rPr lang="en-US" dirty="0"/>
              <a:t>With no network to manage the task is much less complex – it’s adding the network that add the complexity.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F463A7-1016-CB63-478D-DE8E62A404C2}"/>
              </a:ext>
            </a:extLst>
          </p:cNvPr>
          <p:cNvSpPr/>
          <p:nvPr/>
        </p:nvSpPr>
        <p:spPr>
          <a:xfrm>
            <a:off x="980342" y="5715298"/>
            <a:ext cx="83202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Currently Undergoing Test</a:t>
            </a:r>
          </a:p>
        </p:txBody>
      </p:sp>
    </p:spTree>
    <p:extLst>
      <p:ext uri="{BB962C8B-B14F-4D97-AF65-F5344CB8AC3E}">
        <p14:creationId xmlns:p14="http://schemas.microsoft.com/office/powerpoint/2010/main" val="39967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B3DB-7675-5269-0F94-AD0AA0C2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9228D-E7A7-0E6E-3BC9-2DE4AA55D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Beyond Level 1 for a Solopreneur </a:t>
            </a:r>
          </a:p>
        </p:txBody>
      </p:sp>
    </p:spTree>
    <p:extLst>
      <p:ext uri="{BB962C8B-B14F-4D97-AF65-F5344CB8AC3E}">
        <p14:creationId xmlns:p14="http://schemas.microsoft.com/office/powerpoint/2010/main" val="1745253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FF18-7730-49AF-A52B-86E6C6891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Go – Solo Level 2 (Tier “A+”)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7BC95-13E6-826C-2A09-7566C1E9A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to create a secure ‘enclave’ using the Level 1 foundation</a:t>
            </a:r>
          </a:p>
          <a:p>
            <a:pPr lvl="1"/>
            <a:r>
              <a:rPr lang="en-US" dirty="0"/>
              <a:t>The workstation meets Level 2 with </a:t>
            </a:r>
            <a:r>
              <a:rPr lang="en-US" dirty="0" err="1"/>
              <a:t>OpenScap</a:t>
            </a:r>
            <a:r>
              <a:rPr lang="en-US" dirty="0"/>
              <a:t> </a:t>
            </a:r>
          </a:p>
          <a:p>
            <a:r>
              <a:rPr lang="en-US" dirty="0"/>
              <a:t>Elevate other ‘system components’ to meet Level 2 requirements</a:t>
            </a:r>
          </a:p>
          <a:p>
            <a:pPr lvl="1"/>
            <a:r>
              <a:rPr lang="en-US" dirty="0"/>
              <a:t>Better control of the perimeter via a Business Class firewall and rules to bolster security</a:t>
            </a:r>
          </a:p>
          <a:p>
            <a:pPr lvl="1"/>
            <a:r>
              <a:rPr lang="en-US" dirty="0"/>
              <a:t>More extensive self-assessment requirements</a:t>
            </a:r>
          </a:p>
          <a:p>
            <a:pPr lvl="1"/>
            <a:r>
              <a:rPr lang="en-US" dirty="0"/>
              <a:t>Heightened monitoring and reporting capabilities </a:t>
            </a:r>
          </a:p>
          <a:p>
            <a:pPr lvl="1"/>
            <a:r>
              <a:rPr lang="en-US" dirty="0"/>
              <a:t>More expansive policy and procedures</a:t>
            </a:r>
          </a:p>
          <a:p>
            <a:r>
              <a:rPr lang="en-US" dirty="0"/>
              <a:t>Realistically not a good option unless it’s time critical.  Better to build the managed network.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A4203-906E-ED12-9A10-38299CE47ADA}"/>
              </a:ext>
            </a:extLst>
          </p:cNvPr>
          <p:cNvSpPr/>
          <p:nvPr/>
        </p:nvSpPr>
        <p:spPr>
          <a:xfrm>
            <a:off x="571498" y="5896401"/>
            <a:ext cx="1011174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Planned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1945454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49C5-EA15-CABE-CCE6-5007BAF5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Go – Tier “B” Level 1 with Multiple Workstations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AED2A-A927-4A01-A9A6-D5FF636EE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Existing Solo system could be used in multi-user environment</a:t>
            </a:r>
          </a:p>
          <a:p>
            <a:pPr lvl="1"/>
            <a:r>
              <a:rPr lang="en-US" dirty="0"/>
              <a:t>Use easy to implement and low-cost administrative controls</a:t>
            </a:r>
          </a:p>
          <a:p>
            <a:pPr lvl="1"/>
            <a:r>
              <a:rPr lang="en-US" dirty="0"/>
              <a:t>Document in policies and procedures</a:t>
            </a:r>
          </a:p>
          <a:p>
            <a:r>
              <a:rPr lang="en-US" dirty="0"/>
              <a:t>Add a network (Domain) controller and create a managed network</a:t>
            </a:r>
          </a:p>
          <a:p>
            <a:pPr lvl="1"/>
            <a:r>
              <a:rPr lang="en-US" dirty="0"/>
              <a:t>Requires added hardware and software</a:t>
            </a:r>
          </a:p>
          <a:p>
            <a:pPr lvl="1"/>
            <a:r>
              <a:rPr lang="en-US" dirty="0"/>
              <a:t>Adds management burden</a:t>
            </a:r>
          </a:p>
          <a:p>
            <a:pPr lvl="1"/>
            <a:r>
              <a:rPr lang="en-US" dirty="0"/>
              <a:t>Requires more extensive policies and procedures (more device = more controls)</a:t>
            </a:r>
          </a:p>
          <a:p>
            <a:pPr lvl="1"/>
            <a:r>
              <a:rPr lang="en-US" dirty="0"/>
              <a:t>Puts on the fast track to the next rung on the ladder – Level 2 managed network.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E239BE-116A-7198-2198-35B457C3BC8B}"/>
              </a:ext>
            </a:extLst>
          </p:cNvPr>
          <p:cNvSpPr/>
          <p:nvPr/>
        </p:nvSpPr>
        <p:spPr>
          <a:xfrm>
            <a:off x="571498" y="5896401"/>
            <a:ext cx="1011174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Planned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3801532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D80BD-49BA-D677-E10F-2B4C489C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 “B” Level 1 – Managed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B3DE-CD4B-3289-4F5D-998D1C9BD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Presently being modeled by </a:t>
            </a:r>
            <a:r>
              <a:rPr lang="en-US" dirty="0" err="1"/>
              <a:t>Cyberhygiene</a:t>
            </a:r>
            <a:r>
              <a:rPr lang="en-US" dirty="0"/>
              <a:t> project</a:t>
            </a:r>
          </a:p>
          <a:p>
            <a:r>
              <a:rPr lang="en-US" dirty="0"/>
              <a:t>Robust design will include many Level 2 features as ‘best practices’ </a:t>
            </a:r>
          </a:p>
          <a:p>
            <a:r>
              <a:rPr lang="en-US" dirty="0"/>
              <a:t>Added Hardware cost likely to be in 3 – 5 thousand range</a:t>
            </a:r>
          </a:p>
          <a:p>
            <a:pPr lvl="1"/>
            <a:r>
              <a:rPr lang="en-US" dirty="0"/>
              <a:t>Firewall device and software about 500 – 600 dollars</a:t>
            </a:r>
          </a:p>
          <a:p>
            <a:pPr lvl="1"/>
            <a:r>
              <a:rPr lang="en-US" dirty="0"/>
              <a:t>Basic server about 2.500 dollars but can go higher with options like remote management, large storage capacity, etc.</a:t>
            </a:r>
          </a:p>
          <a:p>
            <a:r>
              <a:rPr lang="en-US" dirty="0"/>
              <a:t>No added expense for OS software – Rocky Linux can support.</a:t>
            </a:r>
          </a:p>
          <a:p>
            <a:r>
              <a:rPr lang="en-US" dirty="0"/>
              <a:t>Will likely require a (TBD) 3</a:t>
            </a:r>
            <a:r>
              <a:rPr lang="en-US" baseline="30000" dirty="0"/>
              <a:t>rd</a:t>
            </a:r>
            <a:r>
              <a:rPr lang="en-US" dirty="0"/>
              <a:t> Party MSP to monitor/maintain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193870-E898-47A1-B1C4-A1EAE3A18391}"/>
              </a:ext>
            </a:extLst>
          </p:cNvPr>
          <p:cNvSpPr/>
          <p:nvPr/>
        </p:nvSpPr>
        <p:spPr>
          <a:xfrm>
            <a:off x="1339501" y="5896401"/>
            <a:ext cx="857574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Currently Under Development</a:t>
            </a:r>
          </a:p>
        </p:txBody>
      </p:sp>
    </p:spTree>
    <p:extLst>
      <p:ext uri="{BB962C8B-B14F-4D97-AF65-F5344CB8AC3E}">
        <p14:creationId xmlns:p14="http://schemas.microsoft.com/office/powerpoint/2010/main" val="2027032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EF40F-F06D-1979-8883-D792260E9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 “B” Level 1 – Managed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2E9A9-73CE-BCE9-CD4B-3EB32F6D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Software stack for system monitoring and reporting is all open source</a:t>
            </a:r>
          </a:p>
          <a:p>
            <a:pPr lvl="1"/>
            <a:r>
              <a:rPr lang="en-US" dirty="0"/>
              <a:t>Suricata (Intrusion detection and SIEM)</a:t>
            </a:r>
          </a:p>
          <a:p>
            <a:pPr lvl="1"/>
            <a:r>
              <a:rPr lang="en-US" dirty="0" err="1"/>
              <a:t>GreyLogs</a:t>
            </a:r>
            <a:r>
              <a:rPr lang="en-US" dirty="0"/>
              <a:t> (Log aggregation and inspection/reporting)</a:t>
            </a:r>
          </a:p>
          <a:p>
            <a:pPr lvl="1"/>
            <a:r>
              <a:rPr lang="en-US" dirty="0" err="1"/>
              <a:t>Wazuh</a:t>
            </a:r>
            <a:r>
              <a:rPr lang="en-US" dirty="0"/>
              <a:t> (change management – prevents unauthorized changes)</a:t>
            </a:r>
          </a:p>
          <a:p>
            <a:pPr lvl="1"/>
            <a:r>
              <a:rPr lang="en-US" dirty="0"/>
              <a:t>OpenVAS (vulnerability and patch management)</a:t>
            </a:r>
          </a:p>
          <a:p>
            <a:pPr lvl="1"/>
            <a:r>
              <a:rPr lang="en-US" dirty="0" err="1"/>
              <a:t>OpenScap</a:t>
            </a:r>
            <a:r>
              <a:rPr lang="en-US" dirty="0"/>
              <a:t> (Security Baseline management and remediation)</a:t>
            </a:r>
          </a:p>
          <a:p>
            <a:pPr lvl="1"/>
            <a:r>
              <a:rPr lang="en-US" dirty="0" err="1"/>
              <a:t>Auditid</a:t>
            </a:r>
            <a:r>
              <a:rPr lang="en-US" dirty="0"/>
              <a:t> (User log monitoring and reporting)</a:t>
            </a:r>
          </a:p>
          <a:p>
            <a:pPr lvl="1"/>
            <a:r>
              <a:rPr lang="en-US" dirty="0" err="1"/>
              <a:t>Alertmanager</a:t>
            </a:r>
            <a:r>
              <a:rPr lang="en-US" dirty="0"/>
              <a:t> / Prometheus  (centralized alert management/reporting)</a:t>
            </a:r>
          </a:p>
          <a:p>
            <a:pPr lvl="1"/>
            <a:r>
              <a:rPr lang="en-US" dirty="0" err="1"/>
              <a:t>Restic</a:t>
            </a:r>
            <a:r>
              <a:rPr lang="en-US" dirty="0"/>
              <a:t> (back-up and recovery management)</a:t>
            </a:r>
          </a:p>
          <a:p>
            <a:pPr lvl="1"/>
            <a:r>
              <a:rPr lang="en-US" dirty="0"/>
              <a:t>Etc.</a:t>
            </a:r>
          </a:p>
          <a:p>
            <a:pPr lvl="1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0BDB3-CB91-43AE-9875-48724AD26964}"/>
              </a:ext>
            </a:extLst>
          </p:cNvPr>
          <p:cNvSpPr/>
          <p:nvPr/>
        </p:nvSpPr>
        <p:spPr>
          <a:xfrm>
            <a:off x="1339501" y="5896401"/>
            <a:ext cx="857574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Currently Under Development</a:t>
            </a:r>
          </a:p>
        </p:txBody>
      </p:sp>
    </p:spTree>
    <p:extLst>
      <p:ext uri="{BB962C8B-B14F-4D97-AF65-F5344CB8AC3E}">
        <p14:creationId xmlns:p14="http://schemas.microsoft.com/office/powerpoint/2010/main" val="131238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5B78E-BB8F-BAD2-DF32-58B6B0A8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 “B” Level 1 – Managed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7BE3-E815-7630-E4B3-1042F90F0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task is to install and integrate these various software packages and test/document the results.</a:t>
            </a:r>
          </a:p>
          <a:p>
            <a:r>
              <a:rPr lang="en-US" dirty="0"/>
              <a:t>Once a prototype is configured the hardware/software package would be deployed in a turn-key manner by a (TBD) 3</a:t>
            </a:r>
            <a:r>
              <a:rPr lang="en-US" baseline="30000" dirty="0"/>
              <a:t>rd </a:t>
            </a:r>
            <a:r>
              <a:rPr lang="en-US" dirty="0"/>
              <a:t>party Managed Services Provider</a:t>
            </a:r>
          </a:p>
          <a:p>
            <a:r>
              <a:rPr lang="en-US" dirty="0"/>
              <a:t>Policy and procedures would require extensive revision to address the network and additional users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FB08D4-E8D8-76B6-F87B-72C851BEC106}"/>
              </a:ext>
            </a:extLst>
          </p:cNvPr>
          <p:cNvSpPr/>
          <p:nvPr/>
        </p:nvSpPr>
        <p:spPr>
          <a:xfrm>
            <a:off x="1339501" y="5896401"/>
            <a:ext cx="857574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Currently Under Development</a:t>
            </a:r>
          </a:p>
        </p:txBody>
      </p:sp>
    </p:spTree>
    <p:extLst>
      <p:ext uri="{BB962C8B-B14F-4D97-AF65-F5344CB8AC3E}">
        <p14:creationId xmlns:p14="http://schemas.microsoft.com/office/powerpoint/2010/main" val="2196846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6B13-963C-C951-1D6C-FDC34251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 “C” - Level 2 Managed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1ADD9-E6D2-0222-3C38-07E0F91A8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Relatively minor step up from Level 1 Managed Network due to robust design of Level 1 </a:t>
            </a:r>
          </a:p>
          <a:p>
            <a:r>
              <a:rPr lang="en-US" dirty="0"/>
              <a:t>Primary task would be performing Gap analysis on Level 1 and remediating the shortfalls</a:t>
            </a:r>
          </a:p>
          <a:p>
            <a:r>
              <a:rPr lang="en-US" dirty="0"/>
              <a:t>Would require detailed self assessment</a:t>
            </a:r>
          </a:p>
          <a:p>
            <a:r>
              <a:rPr lang="en-US" dirty="0"/>
              <a:t>Would likely require third party assessment if subject to CMMC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3DBD6-7232-F307-C349-C2E2DEC2314D}"/>
              </a:ext>
            </a:extLst>
          </p:cNvPr>
          <p:cNvSpPr/>
          <p:nvPr/>
        </p:nvSpPr>
        <p:spPr>
          <a:xfrm>
            <a:off x="571498" y="5896401"/>
            <a:ext cx="1011174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Planned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700564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B52B8-B7B5-0015-4D81-84F04B64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D7A50-CA06-1661-8C7B-E2EE2A79E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could we do with some investment to hire professional developers?</a:t>
            </a:r>
          </a:p>
        </p:txBody>
      </p:sp>
    </p:spTree>
    <p:extLst>
      <p:ext uri="{BB962C8B-B14F-4D97-AF65-F5344CB8AC3E}">
        <p14:creationId xmlns:p14="http://schemas.microsoft.com/office/powerpoint/2010/main" val="1806897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EC7E43-DF74-5388-2E5D-4E96D916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to the Future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A86AFA-F987-6B87-4E65-D8702C427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i="1" dirty="0"/>
              <a:t>… “A gap exists for an inexpensive, simple-to-deploy appliance that operates locally (no cloud reliance), avoids proprietary or cloud-based products, and embeds compliance primitives like encrypted logs and automated audits into a surrogate for managed service providers and support technicians…”</a:t>
            </a:r>
          </a:p>
        </p:txBody>
      </p:sp>
    </p:spTree>
    <p:extLst>
      <p:ext uri="{BB962C8B-B14F-4D97-AF65-F5344CB8AC3E}">
        <p14:creationId xmlns:p14="http://schemas.microsoft.com/office/powerpoint/2010/main" val="3744977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0D2B2-7066-FF5B-02F1-DB6848778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Local AI Enabled Surrogate MSP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10FE3-8AD8-6691-8595-6155AAF0B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Many management and maintenance roles can be offloaded to an in-house AI device that monitors the network and reports when/where intervention is needed.</a:t>
            </a:r>
          </a:p>
          <a:p>
            <a:r>
              <a:rPr lang="en-US" dirty="0"/>
              <a:t>Local AI keeps all data secure behind owner’s firewall</a:t>
            </a:r>
          </a:p>
          <a:p>
            <a:r>
              <a:rPr lang="en-US" dirty="0"/>
              <a:t>Many of the foundational elements (monitoring and reporting) would already exist in Level 1 or Level 2 network</a:t>
            </a:r>
          </a:p>
          <a:p>
            <a:r>
              <a:rPr lang="en-US" dirty="0"/>
              <a:t>AI would:</a:t>
            </a:r>
          </a:p>
          <a:p>
            <a:pPr lvl="1"/>
            <a:r>
              <a:rPr lang="en-US" dirty="0"/>
              <a:t>receive system alerts and log data from network controller</a:t>
            </a:r>
          </a:p>
          <a:p>
            <a:pPr lvl="1"/>
            <a:r>
              <a:rPr lang="en-US" dirty="0"/>
              <a:t>Identify action(s) required</a:t>
            </a:r>
          </a:p>
          <a:p>
            <a:pPr lvl="1"/>
            <a:r>
              <a:rPr lang="en-US" dirty="0"/>
              <a:t>Prompt/guide owner through remediation effort – including code generation if needed</a:t>
            </a:r>
          </a:p>
          <a:p>
            <a:pPr lvl="1"/>
            <a:r>
              <a:rPr lang="en-US" dirty="0"/>
              <a:t>Document each incident for compliance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E8AC3C-CFEC-61D8-D2A6-E5C3B42CF5FC}"/>
              </a:ext>
            </a:extLst>
          </p:cNvPr>
          <p:cNvSpPr/>
          <p:nvPr/>
        </p:nvSpPr>
        <p:spPr>
          <a:xfrm>
            <a:off x="656325" y="6077376"/>
            <a:ext cx="1047549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Proposed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4051133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8B89D-8006-8F89-BA50-9EAF82A2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Local AI Enabled Surrogate MSP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0B539-7FA1-336B-B391-41EFD62E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System would leverage off-the-shelf hardware such as M4 Mac Mini or Mac Studio and existing Large Language Model (LLM)</a:t>
            </a:r>
          </a:p>
          <a:p>
            <a:r>
              <a:rPr lang="en-US" dirty="0"/>
              <a:t>AI would also be responsible for documentation management such as policy and procedures by modifying templates to fit the existing network environment</a:t>
            </a:r>
          </a:p>
          <a:p>
            <a:r>
              <a:rPr lang="en-US" dirty="0"/>
              <a:t>System management could be largely handed over to system admin with rudimentary skills with existing (TBD) 3</a:t>
            </a:r>
            <a:r>
              <a:rPr lang="en-US" baseline="30000" dirty="0"/>
              <a:t>rd</a:t>
            </a:r>
            <a:r>
              <a:rPr lang="en-US" dirty="0"/>
              <a:t> Party MSP as backup</a:t>
            </a:r>
          </a:p>
          <a:p>
            <a:r>
              <a:rPr lang="en-US" dirty="0"/>
              <a:t>AI ability to troubleshoot and remediate issues is under investigation using author’s local AI  with promising initial results.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686DD-9EF5-BDEE-8E28-13025304D8A7}"/>
              </a:ext>
            </a:extLst>
          </p:cNvPr>
          <p:cNvSpPr/>
          <p:nvPr/>
        </p:nvSpPr>
        <p:spPr>
          <a:xfrm>
            <a:off x="656324" y="6077376"/>
            <a:ext cx="1047549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Proposed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2026371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0777-9FC3-C00A-6B76-5F7B4449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Local AI Enabled Surrogate MSP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10526-AC6C-1C09-BFCE-9027A5A05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guided user intervention ensures that only authorized user can make changes to system</a:t>
            </a:r>
          </a:p>
          <a:p>
            <a:pPr lvl="1"/>
            <a:r>
              <a:rPr lang="en-US" dirty="0"/>
              <a:t>AI discovers or is informed of issue</a:t>
            </a:r>
          </a:p>
          <a:p>
            <a:pPr lvl="1"/>
            <a:r>
              <a:rPr lang="en-US" dirty="0"/>
              <a:t>AI diagnoses issue</a:t>
            </a:r>
          </a:p>
          <a:p>
            <a:pPr lvl="1"/>
            <a:r>
              <a:rPr lang="en-US" dirty="0"/>
              <a:t>AI proposed response including various commands to be entered by human operator</a:t>
            </a:r>
          </a:p>
          <a:p>
            <a:pPr lvl="1"/>
            <a:r>
              <a:rPr lang="en-US" dirty="0"/>
              <a:t>Human operator determines if the suggested action is reasonable and if so, enters the command or executes the code</a:t>
            </a:r>
          </a:p>
          <a:p>
            <a:pPr lvl="1"/>
            <a:r>
              <a:rPr lang="en-US" dirty="0"/>
              <a:t>Human operator monitors the response and reports outcome to AI (which may also self discover the result)</a:t>
            </a:r>
          </a:p>
          <a:p>
            <a:pPr lvl="1"/>
            <a:r>
              <a:rPr lang="en-US" dirty="0"/>
              <a:t>Additional iterations may be needed.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51EA48-8495-0136-901B-5B1234573C66}"/>
              </a:ext>
            </a:extLst>
          </p:cNvPr>
          <p:cNvSpPr/>
          <p:nvPr/>
        </p:nvSpPr>
        <p:spPr>
          <a:xfrm>
            <a:off x="656325" y="6077376"/>
            <a:ext cx="1047549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Proposed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460383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54A-5684-E84E-27F0-187C37AC5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Local AI Enabled Surrogate MSP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77CB6-98B3-DAF7-A558-57F9795B3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collects, parses (using Python or similar tool), and reports system data via a management dashboard</a:t>
            </a:r>
          </a:p>
          <a:p>
            <a:r>
              <a:rPr lang="en-US" dirty="0"/>
              <a:t>Urgent notifications are emailed or sent via SMS to administrator</a:t>
            </a:r>
          </a:p>
          <a:p>
            <a:r>
              <a:rPr lang="en-US" dirty="0"/>
              <a:t>Upstream incident notifications are automated requiring only human approval to transmit.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199D61-E455-269F-ABE3-9E6595B2E1E0}"/>
              </a:ext>
            </a:extLst>
          </p:cNvPr>
          <p:cNvSpPr/>
          <p:nvPr/>
        </p:nvSpPr>
        <p:spPr>
          <a:xfrm>
            <a:off x="656325" y="6077376"/>
            <a:ext cx="1047549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Proposed for Future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4038314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1884</Words>
  <Application>Microsoft Macintosh PowerPoint</Application>
  <PresentationFormat>Widescreen</PresentationFormat>
  <Paragraphs>168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The Cyber Hygiene Project</vt:lpstr>
      <vt:lpstr>Problem Statement</vt:lpstr>
      <vt:lpstr>Proposed Solution</vt:lpstr>
      <vt:lpstr>“A” Tier – Solopreneur FCI Only </vt:lpstr>
      <vt:lpstr>“A” Tier Architecture and Software</vt:lpstr>
      <vt:lpstr>Moving on …</vt:lpstr>
      <vt:lpstr>“A” Tier (Continued)</vt:lpstr>
      <vt:lpstr>“A” Tier Level 1 Implementation (notional)</vt:lpstr>
      <vt:lpstr>“A” Tier Level 1 Implementation (notional)</vt:lpstr>
      <vt:lpstr>So that’s what we have now</vt:lpstr>
      <vt:lpstr>What’s Next?</vt:lpstr>
      <vt:lpstr>Where to Go – Solo Level 2 (Tier “A+”)</vt:lpstr>
      <vt:lpstr>Where to Go – Tier “B” Level 1 with Multiple Workstations</vt:lpstr>
      <vt:lpstr>Tier “B” Level 1 – Managed Network</vt:lpstr>
      <vt:lpstr>Tier “B” Level 1 – Managed Network</vt:lpstr>
      <vt:lpstr>Tier “B” Level 1 – Managed Network</vt:lpstr>
      <vt:lpstr>Tier “C” - Level 2 Managed Network</vt:lpstr>
      <vt:lpstr>Why not ?</vt:lpstr>
      <vt:lpstr>Looking to the Future</vt:lpstr>
      <vt:lpstr>Create a Local AI Enabled Surrogate MSP</vt:lpstr>
      <vt:lpstr>Create a Local AI Enabled Surrogate MSP</vt:lpstr>
      <vt:lpstr>Create a Local AI Enabled Surrogate MSP</vt:lpstr>
      <vt:lpstr>Create a Local AI Enabled Surrogate MSP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Shannon</dc:creator>
  <cp:lastModifiedBy>Don Shannon</cp:lastModifiedBy>
  <cp:revision>7</cp:revision>
  <dcterms:created xsi:type="dcterms:W3CDTF">2025-10-22T22:35:10Z</dcterms:created>
  <dcterms:modified xsi:type="dcterms:W3CDTF">2025-11-12T22:00:13Z</dcterms:modified>
</cp:coreProperties>
</file>