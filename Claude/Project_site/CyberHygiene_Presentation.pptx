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9144000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33"/>
    <p:restoredTop autoAdjust="0" sz="94711"/>
  </p:normalViewPr>
  <p:slideViewPr>
    <p:cSldViewPr snapToGrid="0" snapToObjects="1">
      <p:cViewPr varScale="1">
        <p:scale>
          <a:sx d="100" n="84"/>
          <a:sy d="100" n="84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notesMaster" Target="notesMasters/notesMaster1.xml" /><Relationship Id="rId56" Type="http://schemas.openxmlformats.org/officeDocument/2006/relationships/viewProps" Target="viewProps.xml" /><Relationship Id="rId5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8" Type="http://schemas.openxmlformats.org/officeDocument/2006/relationships/tableStyles" Target="tableStyles.xml" /><Relationship Id="rId5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38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4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Welcome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CyberHygiene</a:t>
            </a:r>
            <a:r>
              <a:rPr/>
              <a:t> </a:t>
            </a:r>
            <a:r>
              <a:rPr/>
              <a:t>Project</a:t>
            </a:r>
            <a:r>
              <a:rPr/>
              <a:t> </a:t>
            </a:r>
            <a:r>
              <a:rPr/>
              <a:t>presentation.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research</a:t>
            </a:r>
            <a:r>
              <a:rPr/>
              <a:t> </a:t>
            </a:r>
            <a:r>
              <a:rPr/>
              <a:t>initiative</a:t>
            </a:r>
            <a:r>
              <a:rPr/>
              <a:t> </a:t>
            </a:r>
            <a:r>
              <a:rPr/>
              <a:t>demonstrates</a:t>
            </a:r>
            <a:r>
              <a:rPr/>
              <a:t> </a:t>
            </a:r>
            <a:r>
              <a:rPr/>
              <a:t>that</a:t>
            </a:r>
            <a:r>
              <a:rPr/>
              <a:t> </a:t>
            </a:r>
            <a:r>
              <a:rPr/>
              <a:t>small</a:t>
            </a:r>
            <a:r>
              <a:rPr/>
              <a:t> </a:t>
            </a:r>
            <a:r>
              <a:rPr/>
              <a:t>defense</a:t>
            </a:r>
            <a:r>
              <a:rPr/>
              <a:t> </a:t>
            </a:r>
            <a:r>
              <a:rPr/>
              <a:t>contractors</a:t>
            </a:r>
            <a:r>
              <a:rPr/>
              <a:t> </a:t>
            </a:r>
            <a:r>
              <a:rPr/>
              <a:t>can</a:t>
            </a:r>
            <a:r>
              <a:rPr/>
              <a:t> </a:t>
            </a:r>
            <a:r>
              <a:rPr/>
              <a:t>achieve</a:t>
            </a:r>
            <a:r>
              <a:rPr/>
              <a:t> </a:t>
            </a:r>
            <a:r>
              <a:rPr/>
              <a:t>full</a:t>
            </a:r>
            <a:r>
              <a:rPr/>
              <a:t> </a:t>
            </a:r>
            <a:r>
              <a:rPr/>
              <a:t>NIST</a:t>
            </a:r>
            <a:r>
              <a:rPr/>
              <a:t> </a:t>
            </a:r>
            <a:r>
              <a:rPr/>
              <a:t>800-171</a:t>
            </a:r>
            <a:r>
              <a:rPr/>
              <a:t> </a:t>
            </a:r>
            <a:r>
              <a:rPr/>
              <a:t>compliance</a:t>
            </a:r>
            <a:r>
              <a:rPr/>
              <a:t> </a:t>
            </a:r>
            <a:r>
              <a:rPr/>
              <a:t>without</a:t>
            </a:r>
            <a:r>
              <a:rPr/>
              <a:t> </a:t>
            </a:r>
            <a:r>
              <a:rPr/>
              <a:t>breaking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bank.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Very</a:t>
            </a:r>
            <a:r>
              <a:rPr/>
              <a:t> </a:t>
            </a:r>
            <a:r>
              <a:rPr/>
              <a:t>Small</a:t>
            </a:r>
            <a:r>
              <a:rPr/>
              <a:t> </a:t>
            </a:r>
            <a:r>
              <a:rPr/>
              <a:t>Businesses</a:t>
            </a:r>
            <a:r>
              <a:rPr/>
              <a:t> </a:t>
            </a:r>
            <a:r>
              <a:rPr/>
              <a:t>face</a:t>
            </a:r>
            <a:r>
              <a:rPr/>
              <a:t> </a:t>
            </a:r>
            <a:r>
              <a:rPr/>
              <a:t>an</a:t>
            </a:r>
            <a:r>
              <a:rPr/>
              <a:t> </a:t>
            </a:r>
            <a:r>
              <a:rPr/>
              <a:t>impossible</a:t>
            </a:r>
            <a:r>
              <a:rPr/>
              <a:t> </a:t>
            </a:r>
            <a:r>
              <a:rPr/>
              <a:t>choice:</a:t>
            </a:r>
            <a:r>
              <a:rPr/>
              <a:t> </a:t>
            </a:r>
            <a:r>
              <a:rPr/>
              <a:t>spend</a:t>
            </a:r>
            <a:r>
              <a:rPr/>
              <a:t> </a:t>
            </a:r>
            <a:r>
              <a:rPr/>
              <a:t>more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compliance</a:t>
            </a:r>
            <a:r>
              <a:rPr/>
              <a:t> </a:t>
            </a:r>
            <a:r>
              <a:rPr/>
              <a:t>than</a:t>
            </a:r>
            <a:r>
              <a:rPr/>
              <a:t> </a:t>
            </a:r>
            <a:r>
              <a:rPr/>
              <a:t>they’ll</a:t>
            </a:r>
            <a:r>
              <a:rPr/>
              <a:t> </a:t>
            </a:r>
            <a:r>
              <a:rPr/>
              <a:t>earn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their</a:t>
            </a:r>
            <a:r>
              <a:rPr/>
              <a:t> </a:t>
            </a:r>
            <a:r>
              <a:rPr/>
              <a:t>first</a:t>
            </a:r>
            <a:r>
              <a:rPr/>
              <a:t> </a:t>
            </a:r>
            <a:r>
              <a:rPr/>
              <a:t>contract,</a:t>
            </a:r>
            <a:r>
              <a:rPr/>
              <a:t> </a:t>
            </a:r>
            <a:r>
              <a:rPr/>
              <a:t>or</a:t>
            </a:r>
            <a:r>
              <a:rPr/>
              <a:t> </a:t>
            </a:r>
            <a:r>
              <a:rPr/>
              <a:t>stay</a:t>
            </a:r>
            <a:r>
              <a:rPr/>
              <a:t> </a:t>
            </a:r>
            <a:r>
              <a:rPr/>
              <a:t>out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defense</a:t>
            </a:r>
            <a:r>
              <a:rPr/>
              <a:t> </a:t>
            </a:r>
            <a:r>
              <a:rPr/>
              <a:t>market</a:t>
            </a:r>
            <a:r>
              <a:rPr/>
              <a:t> </a:t>
            </a:r>
            <a:r>
              <a:rPr/>
              <a:t>entirely.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CyberHygiene</a:t>
            </a:r>
            <a:r>
              <a:rPr/>
              <a:t> </a:t>
            </a:r>
            <a:r>
              <a:rPr/>
              <a:t>Project</a:t>
            </a:r>
            <a:r>
              <a:rPr/>
              <a:t> </a:t>
            </a:r>
            <a:r>
              <a:rPr/>
              <a:t>proves</a:t>
            </a:r>
            <a:r>
              <a:rPr/>
              <a:t> </a:t>
            </a:r>
            <a:r>
              <a:rPr/>
              <a:t>that</a:t>
            </a:r>
            <a:r>
              <a:rPr/>
              <a:t> </a:t>
            </a:r>
            <a:r>
              <a:rPr/>
              <a:t>compliance</a:t>
            </a:r>
            <a:r>
              <a:rPr/>
              <a:t> </a:t>
            </a:r>
            <a:r>
              <a:rPr/>
              <a:t>doesn’t</a:t>
            </a:r>
            <a:r>
              <a:rPr/>
              <a:t> </a:t>
            </a:r>
            <a:r>
              <a:rPr/>
              <a:t>require</a:t>
            </a:r>
            <a:r>
              <a:rPr/>
              <a:t> </a:t>
            </a:r>
            <a:r>
              <a:rPr/>
              <a:t>expensive</a:t>
            </a:r>
            <a:r>
              <a:rPr/>
              <a:t> </a:t>
            </a:r>
            <a:r>
              <a:rPr/>
              <a:t>proprietary</a:t>
            </a:r>
            <a:r>
              <a:rPr/>
              <a:t> </a:t>
            </a:r>
            <a:r>
              <a:rPr/>
              <a:t>solutions</a:t>
            </a:r>
            <a:r>
              <a:rPr/>
              <a:t> </a:t>
            </a:r>
            <a:r>
              <a:rPr/>
              <a:t>or</a:t>
            </a:r>
            <a:r>
              <a:rPr/>
              <a:t> </a:t>
            </a:r>
            <a:r>
              <a:rPr/>
              <a:t>managed</a:t>
            </a:r>
            <a:r>
              <a:rPr/>
              <a:t> </a:t>
            </a:r>
            <a:r>
              <a:rPr/>
              <a:t>service</a:t>
            </a:r>
            <a:r>
              <a:rPr/>
              <a:t> </a:t>
            </a:r>
            <a:r>
              <a:rPr/>
              <a:t>providers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just</a:t>
            </a:r>
            <a:r>
              <a:rPr/>
              <a:t> </a:t>
            </a:r>
            <a:r>
              <a:rPr/>
              <a:t>knowledge,</a:t>
            </a:r>
            <a:r>
              <a:rPr/>
              <a:t> </a:t>
            </a:r>
            <a:r>
              <a:rPr/>
              <a:t>planning,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right</a:t>
            </a:r>
            <a:r>
              <a:rPr/>
              <a:t> </a:t>
            </a:r>
            <a:r>
              <a:rPr/>
              <a:t>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started</a:t>
            </a:r>
            <a:r>
              <a:rPr/>
              <a:t> </a:t>
            </a:r>
            <a:r>
              <a:rPr/>
              <a:t>as</a:t>
            </a:r>
            <a:r>
              <a:rPr/>
              <a:t> </a:t>
            </a:r>
            <a:r>
              <a:rPr/>
              <a:t>research</a:t>
            </a:r>
            <a:r>
              <a:rPr/>
              <a:t> </a:t>
            </a:r>
            <a:r>
              <a:rPr/>
              <a:t>became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fully</a:t>
            </a:r>
            <a:r>
              <a:rPr/>
              <a:t> </a:t>
            </a:r>
            <a:r>
              <a:rPr/>
              <a:t>operational</a:t>
            </a:r>
            <a:r>
              <a:rPr/>
              <a:t> </a:t>
            </a:r>
            <a:r>
              <a:rPr/>
              <a:t>system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just</a:t>
            </a:r>
            <a:r>
              <a:rPr/>
              <a:t> </a:t>
            </a:r>
            <a:r>
              <a:rPr/>
              <a:t>3</a:t>
            </a:r>
            <a:r>
              <a:rPr/>
              <a:t> </a:t>
            </a:r>
            <a:r>
              <a:rPr/>
              <a:t>months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focused</a:t>
            </a:r>
            <a:r>
              <a:rPr/>
              <a:t> </a:t>
            </a:r>
            <a:r>
              <a:rPr/>
              <a:t>implementation.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December</a:t>
            </a:r>
            <a:r>
              <a:rPr/>
              <a:t> </a:t>
            </a:r>
            <a:r>
              <a:rPr/>
              <a:t>AI</a:t>
            </a:r>
            <a:r>
              <a:rPr/>
              <a:t> </a:t>
            </a:r>
            <a:r>
              <a:rPr/>
              <a:t>deployment</a:t>
            </a:r>
            <a:r>
              <a:rPr/>
              <a:t> </a:t>
            </a:r>
            <a:r>
              <a:rPr/>
              <a:t>represents</a:t>
            </a:r>
            <a:r>
              <a:rPr/>
              <a:t> </a:t>
            </a:r>
            <a:r>
              <a:rPr/>
              <a:t>cutting-edge</a:t>
            </a:r>
            <a:r>
              <a:rPr/>
              <a:t> </a:t>
            </a:r>
            <a:r>
              <a:rPr/>
              <a:t>innovation</a:t>
            </a:r>
            <a:r>
              <a:rPr/>
              <a:t> </a:t>
            </a:r>
            <a:r>
              <a:rPr/>
              <a:t>while</a:t>
            </a:r>
            <a:r>
              <a:rPr/>
              <a:t> </a:t>
            </a:r>
            <a:r>
              <a:rPr/>
              <a:t>maintaining</a:t>
            </a:r>
            <a:r>
              <a:rPr/>
              <a:t> </a:t>
            </a:r>
            <a:r>
              <a:rPr/>
              <a:t>strict</a:t>
            </a:r>
            <a:r>
              <a:rPr/>
              <a:t> </a:t>
            </a:r>
            <a:r>
              <a:rPr/>
              <a:t>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Rocky</a:t>
            </a:r>
            <a:r>
              <a:rPr/>
              <a:t> </a:t>
            </a:r>
            <a:r>
              <a:rPr/>
              <a:t>Linux</a:t>
            </a:r>
            <a:r>
              <a:rPr/>
              <a:t> </a:t>
            </a:r>
            <a:r>
              <a:rPr/>
              <a:t>provides</a:t>
            </a:r>
            <a:r>
              <a:rPr/>
              <a:t> </a:t>
            </a:r>
            <a:r>
              <a:rPr/>
              <a:t>enterprise-grade</a:t>
            </a:r>
            <a:r>
              <a:rPr/>
              <a:t> </a:t>
            </a:r>
            <a:r>
              <a:rPr/>
              <a:t>stability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RHEL</a:t>
            </a:r>
            <a:r>
              <a:rPr/>
              <a:t> </a:t>
            </a:r>
            <a:r>
              <a:rPr/>
              <a:t>compatibility,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it’s</a:t>
            </a:r>
            <a:r>
              <a:rPr/>
              <a:t> </a:t>
            </a:r>
            <a:r>
              <a:rPr/>
              <a:t>completely</a:t>
            </a:r>
            <a:r>
              <a:rPr/>
              <a:t> </a:t>
            </a:r>
            <a:r>
              <a:rPr/>
              <a:t>free.</a:t>
            </a:r>
            <a:r>
              <a:rPr/>
              <a:t> </a:t>
            </a:r>
            <a:r>
              <a:rPr/>
              <a:t>FreeIPA</a:t>
            </a:r>
            <a:r>
              <a:rPr/>
              <a:t> </a:t>
            </a:r>
            <a:r>
              <a:rPr/>
              <a:t>gives</a:t>
            </a:r>
            <a:r>
              <a:rPr/>
              <a:t> </a:t>
            </a:r>
            <a:r>
              <a:rPr/>
              <a:t>us</a:t>
            </a:r>
            <a:r>
              <a:rPr/>
              <a:t> </a:t>
            </a:r>
            <a:r>
              <a:rPr/>
              <a:t>Active</a:t>
            </a:r>
            <a:r>
              <a:rPr/>
              <a:t> </a:t>
            </a:r>
            <a:r>
              <a:rPr/>
              <a:t>Directory-equivalent</a:t>
            </a:r>
            <a:r>
              <a:rPr/>
              <a:t> </a:t>
            </a:r>
            <a:r>
              <a:rPr/>
              <a:t>capabilities</a:t>
            </a:r>
            <a:r>
              <a:rPr/>
              <a:t> </a:t>
            </a:r>
            <a:r>
              <a:rPr/>
              <a:t>without</a:t>
            </a:r>
            <a:r>
              <a:rPr/>
              <a:t> </a:t>
            </a:r>
            <a:r>
              <a:rPr/>
              <a:t>Microsoft</a:t>
            </a:r>
            <a:r>
              <a:rPr/>
              <a:t> </a:t>
            </a:r>
            <a:r>
              <a:rPr/>
              <a:t>licensing</a:t>
            </a:r>
            <a:r>
              <a:rPr/>
              <a:t> </a:t>
            </a:r>
            <a:r>
              <a:rPr/>
              <a:t>costs.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This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our</a:t>
            </a:r>
            <a:r>
              <a:rPr/>
              <a:t> </a:t>
            </a:r>
            <a:r>
              <a:rPr/>
              <a:t>newest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most</a:t>
            </a:r>
            <a:r>
              <a:rPr/>
              <a:t> </a:t>
            </a:r>
            <a:r>
              <a:rPr/>
              <a:t>exciting</a:t>
            </a:r>
            <a:r>
              <a:rPr/>
              <a:t> </a:t>
            </a:r>
            <a:r>
              <a:rPr/>
              <a:t>achievement.</a:t>
            </a:r>
            <a:r>
              <a:rPr/>
              <a:t> </a:t>
            </a:r>
            <a:r>
              <a:rPr/>
              <a:t>We’ve</a:t>
            </a:r>
            <a:r>
              <a:rPr/>
              <a:t> </a:t>
            </a:r>
            <a:r>
              <a:rPr/>
              <a:t>deployed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fully</a:t>
            </a:r>
            <a:r>
              <a:rPr/>
              <a:t> </a:t>
            </a:r>
            <a:r>
              <a:rPr/>
              <a:t>functional</a:t>
            </a:r>
            <a:r>
              <a:rPr/>
              <a:t> </a:t>
            </a:r>
            <a:r>
              <a:rPr/>
              <a:t>AI</a:t>
            </a:r>
            <a:r>
              <a:rPr/>
              <a:t> </a:t>
            </a:r>
            <a:r>
              <a:rPr/>
              <a:t>assistant</a:t>
            </a:r>
            <a:r>
              <a:rPr/>
              <a:t> </a:t>
            </a:r>
            <a:r>
              <a:rPr/>
              <a:t>that</a:t>
            </a:r>
            <a:r>
              <a:rPr/>
              <a:t> </a:t>
            </a:r>
            <a:r>
              <a:rPr/>
              <a:t>runs</a:t>
            </a:r>
            <a:r>
              <a:rPr/>
              <a:t> </a:t>
            </a:r>
            <a:r>
              <a:rPr/>
              <a:t>entirely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our</a:t>
            </a:r>
            <a:r>
              <a:rPr/>
              <a:t> </a:t>
            </a:r>
            <a:r>
              <a:rPr/>
              <a:t>internal</a:t>
            </a:r>
            <a:r>
              <a:rPr/>
              <a:t> </a:t>
            </a:r>
            <a:r>
              <a:rPr/>
              <a:t>network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no</a:t>
            </a:r>
            <a:r>
              <a:rPr/>
              <a:t> </a:t>
            </a:r>
            <a:r>
              <a:rPr/>
              <a:t>data</a:t>
            </a:r>
            <a:r>
              <a:rPr/>
              <a:t> </a:t>
            </a:r>
            <a:r>
              <a:rPr/>
              <a:t>ever</a:t>
            </a:r>
            <a:r>
              <a:rPr/>
              <a:t> </a:t>
            </a:r>
            <a:r>
              <a:rPr/>
              <a:t>leaves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facility.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Traditional</a:t>
            </a:r>
            <a:r>
              <a:rPr/>
              <a:t> </a:t>
            </a:r>
            <a:r>
              <a:rPr/>
              <a:t>managed</a:t>
            </a:r>
            <a:r>
              <a:rPr/>
              <a:t> </a:t>
            </a:r>
            <a:r>
              <a:rPr/>
              <a:t>AI</a:t>
            </a:r>
            <a:r>
              <a:rPr/>
              <a:t> </a:t>
            </a:r>
            <a:r>
              <a:rPr/>
              <a:t>services</a:t>
            </a:r>
            <a:r>
              <a:rPr/>
              <a:t> </a:t>
            </a:r>
            <a:r>
              <a:rPr/>
              <a:t>cost</a:t>
            </a:r>
            <a:r>
              <a:rPr/>
              <a:t> </a:t>
            </a:r>
            <a:r>
              <a:rPr/>
              <a:t>$50-150/month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send</a:t>
            </a:r>
            <a:r>
              <a:rPr/>
              <a:t> </a:t>
            </a:r>
            <a:r>
              <a:rPr/>
              <a:t>your</a:t>
            </a:r>
            <a:r>
              <a:rPr/>
              <a:t> </a:t>
            </a:r>
            <a:r>
              <a:rPr/>
              <a:t>data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external</a:t>
            </a:r>
            <a:r>
              <a:rPr/>
              <a:t> </a:t>
            </a:r>
            <a:r>
              <a:rPr/>
              <a:t>clouds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CMMC</a:t>
            </a:r>
            <a:r>
              <a:rPr/>
              <a:t> </a:t>
            </a:r>
            <a:r>
              <a:rPr/>
              <a:t>violation.</a:t>
            </a:r>
            <a:r>
              <a:rPr/>
              <a:t> </a:t>
            </a:r>
            <a:r>
              <a:rPr/>
              <a:t>Our</a:t>
            </a:r>
            <a:r>
              <a:rPr/>
              <a:t> </a:t>
            </a:r>
            <a:r>
              <a:rPr/>
              <a:t>approach</a:t>
            </a:r>
            <a:r>
              <a:rPr/>
              <a:t> </a:t>
            </a:r>
            <a:r>
              <a:rPr/>
              <a:t>costs</a:t>
            </a:r>
            <a:r>
              <a:rPr/>
              <a:t> </a:t>
            </a:r>
            <a:r>
              <a:rPr/>
              <a:t>nothing</a:t>
            </a:r>
            <a:r>
              <a:rPr/>
              <a:t> </a:t>
            </a:r>
            <a:r>
              <a:rPr/>
              <a:t>per</a:t>
            </a:r>
            <a:r>
              <a:rPr/>
              <a:t> </a:t>
            </a:r>
            <a:r>
              <a:rPr/>
              <a:t>month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keeps</a:t>
            </a:r>
            <a:r>
              <a:rPr/>
              <a:t> </a:t>
            </a:r>
            <a:r>
              <a:rPr/>
              <a:t>all</a:t>
            </a:r>
            <a:r>
              <a:rPr/>
              <a:t> </a:t>
            </a:r>
            <a:r>
              <a:rPr/>
              <a:t>CUI</a:t>
            </a:r>
            <a:r>
              <a:rPr/>
              <a:t> </a:t>
            </a:r>
            <a:r>
              <a:rPr/>
              <a:t>internal.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We</a:t>
            </a:r>
            <a:r>
              <a:rPr/>
              <a:t> </a:t>
            </a:r>
            <a:r>
              <a:rPr/>
              <a:t>use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quantized</a:t>
            </a:r>
            <a:r>
              <a:rPr/>
              <a:t> </a:t>
            </a:r>
            <a:r>
              <a:rPr/>
              <a:t>7B</a:t>
            </a:r>
            <a:r>
              <a:rPr/>
              <a:t> </a:t>
            </a:r>
            <a:r>
              <a:rPr/>
              <a:t>parameter</a:t>
            </a:r>
            <a:r>
              <a:rPr/>
              <a:t> </a:t>
            </a:r>
            <a:r>
              <a:rPr/>
              <a:t>model</a:t>
            </a:r>
            <a:r>
              <a:rPr/>
              <a:t> </a:t>
            </a:r>
            <a:r>
              <a:rPr/>
              <a:t>that</a:t>
            </a:r>
            <a:r>
              <a:rPr/>
              <a:t> </a:t>
            </a:r>
            <a:r>
              <a:rPr/>
              <a:t>runs</a:t>
            </a:r>
            <a:r>
              <a:rPr/>
              <a:t> </a:t>
            </a:r>
            <a:r>
              <a:rPr/>
              <a:t>efficiently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Mac</a:t>
            </a:r>
            <a:r>
              <a:rPr/>
              <a:t> </a:t>
            </a:r>
            <a:r>
              <a:rPr/>
              <a:t>Mini.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Flask</a:t>
            </a:r>
            <a:r>
              <a:rPr/>
              <a:t> </a:t>
            </a:r>
            <a:r>
              <a:rPr/>
              <a:t>backend</a:t>
            </a:r>
            <a:r>
              <a:rPr/>
              <a:t> </a:t>
            </a:r>
            <a:r>
              <a:rPr/>
              <a:t>ensures</a:t>
            </a:r>
            <a:r>
              <a:rPr/>
              <a:t> </a:t>
            </a:r>
            <a:r>
              <a:rPr/>
              <a:t>only</a:t>
            </a:r>
            <a:r>
              <a:rPr/>
              <a:t> </a:t>
            </a:r>
            <a:r>
              <a:rPr/>
              <a:t>whitelisted</a:t>
            </a:r>
            <a:r>
              <a:rPr/>
              <a:t> </a:t>
            </a:r>
            <a:r>
              <a:rPr/>
              <a:t>commands</a:t>
            </a:r>
            <a:r>
              <a:rPr/>
              <a:t> </a:t>
            </a:r>
            <a:r>
              <a:rPr/>
              <a:t>execute,</a:t>
            </a:r>
            <a:r>
              <a:rPr/>
              <a:t> </a:t>
            </a:r>
            <a:r>
              <a:rPr/>
              <a:t>preventing</a:t>
            </a:r>
            <a:r>
              <a:rPr/>
              <a:t> </a:t>
            </a:r>
            <a:r>
              <a:rPr/>
              <a:t>security</a:t>
            </a:r>
            <a:r>
              <a:rPr/>
              <a:t> </a:t>
            </a:r>
            <a:r>
              <a:rPr/>
              <a:t>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Every</a:t>
            </a:r>
            <a:r>
              <a:rPr/>
              <a:t> </a:t>
            </a:r>
            <a:r>
              <a:rPr/>
              <a:t>single</a:t>
            </a:r>
            <a:r>
              <a:rPr/>
              <a:t> </a:t>
            </a:r>
            <a:r>
              <a:rPr/>
              <a:t>software</a:t>
            </a:r>
            <a:r>
              <a:rPr/>
              <a:t> </a:t>
            </a:r>
            <a:r>
              <a:rPr/>
              <a:t>component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free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open-source,</a:t>
            </a:r>
            <a:r>
              <a:rPr/>
              <a:t> </a:t>
            </a:r>
            <a:r>
              <a:rPr/>
              <a:t>yet</a:t>
            </a:r>
            <a:r>
              <a:rPr/>
              <a:t> </a:t>
            </a:r>
            <a:r>
              <a:rPr/>
              <a:t>enterprise-grade.</a:t>
            </a:r>
            <a:r>
              <a:rPr/>
              <a:t> </a:t>
            </a:r>
            <a:r>
              <a:rPr/>
              <a:t>Total</a:t>
            </a:r>
            <a:r>
              <a:rPr/>
              <a:t> </a:t>
            </a:r>
            <a:r>
              <a:rPr/>
              <a:t>software</a:t>
            </a:r>
            <a:r>
              <a:rPr/>
              <a:t> </a:t>
            </a:r>
            <a:r>
              <a:rPr/>
              <a:t>licensing</a:t>
            </a:r>
            <a:r>
              <a:rPr/>
              <a:t> </a:t>
            </a:r>
            <a:r>
              <a:rPr/>
              <a:t>cost:</a:t>
            </a:r>
            <a:r>
              <a:rPr/>
              <a:t> </a:t>
            </a:r>
            <a:r>
              <a:rPr/>
              <a:t>$0.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28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This</a:t>
            </a:r>
            <a:r>
              <a:rPr/>
              <a:t> </a:t>
            </a:r>
            <a:r>
              <a:rPr/>
              <a:t>isn’t</a:t>
            </a:r>
            <a:r>
              <a:rPr/>
              <a:t> </a:t>
            </a:r>
            <a:r>
              <a:rPr/>
              <a:t>just</a:t>
            </a:r>
            <a:r>
              <a:rPr/>
              <a:t> </a:t>
            </a:r>
            <a:r>
              <a:rPr/>
              <a:t>about</a:t>
            </a:r>
            <a:r>
              <a:rPr/>
              <a:t> </a:t>
            </a:r>
            <a:r>
              <a:rPr/>
              <a:t>saving</a:t>
            </a:r>
            <a:r>
              <a:rPr/>
              <a:t> </a:t>
            </a:r>
            <a:r>
              <a:rPr/>
              <a:t>money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it’s</a:t>
            </a:r>
            <a:r>
              <a:rPr/>
              <a:t> </a:t>
            </a:r>
            <a:r>
              <a:rPr/>
              <a:t>about</a:t>
            </a:r>
            <a:r>
              <a:rPr/>
              <a:t> </a:t>
            </a:r>
            <a:r>
              <a:rPr/>
              <a:t>making</a:t>
            </a:r>
            <a:r>
              <a:rPr/>
              <a:t> </a:t>
            </a:r>
            <a:r>
              <a:rPr/>
              <a:t>it</a:t>
            </a:r>
            <a:r>
              <a:rPr/>
              <a:t> </a:t>
            </a:r>
            <a:r>
              <a:rPr/>
              <a:t>possible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small</a:t>
            </a:r>
            <a:r>
              <a:rPr/>
              <a:t> </a:t>
            </a:r>
            <a:r>
              <a:rPr/>
              <a:t>businesses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participate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defense</a:t>
            </a:r>
            <a:r>
              <a:rPr/>
              <a:t> </a:t>
            </a:r>
            <a:r>
              <a:rPr/>
              <a:t>market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38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[PRESENTER:</a:t>
            </a:r>
            <a:r>
              <a:rPr/>
              <a:t> </a:t>
            </a:r>
            <a:r>
              <a:rPr/>
              <a:t>Consider</a:t>
            </a:r>
            <a:r>
              <a:rPr/>
              <a:t> </a:t>
            </a:r>
            <a:r>
              <a:rPr/>
              <a:t>doing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live</a:t>
            </a:r>
            <a:r>
              <a:rPr/>
              <a:t> </a:t>
            </a:r>
            <a:r>
              <a:rPr/>
              <a:t>demo</a:t>
            </a:r>
            <a:r>
              <a:rPr/>
              <a:t> </a:t>
            </a:r>
            <a:r>
              <a:rPr/>
              <a:t>here</a:t>
            </a:r>
            <a:r>
              <a:rPr/>
              <a:t> </a:t>
            </a:r>
            <a:r>
              <a:rPr/>
              <a:t>if</a:t>
            </a:r>
            <a:r>
              <a:rPr/>
              <a:t> </a:t>
            </a:r>
            <a:r>
              <a:rPr/>
              <a:t>network</a:t>
            </a:r>
            <a:r>
              <a:rPr/>
              <a:t> </a:t>
            </a:r>
            <a:r>
              <a:rPr/>
              <a:t>access</a:t>
            </a:r>
            <a:r>
              <a:rPr/>
              <a:t> </a:t>
            </a:r>
            <a:r>
              <a:rPr/>
              <a:t>available,</a:t>
            </a:r>
            <a:r>
              <a:rPr/>
              <a:t> </a:t>
            </a:r>
            <a:r>
              <a:rPr/>
              <a:t>or</a:t>
            </a:r>
            <a:r>
              <a:rPr/>
              <a:t> </a:t>
            </a:r>
            <a:r>
              <a:rPr/>
              <a:t>show</a:t>
            </a:r>
            <a:r>
              <a:rPr/>
              <a:t> </a:t>
            </a:r>
            <a:r>
              <a:rPr/>
              <a:t>pre-recorded</a:t>
            </a:r>
            <a:r>
              <a:rPr/>
              <a:t> </a:t>
            </a:r>
            <a:r>
              <a:rPr/>
              <a:t>screenshots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actual</a:t>
            </a:r>
            <a:r>
              <a:rPr/>
              <a:t> </a:t>
            </a:r>
            <a:r>
              <a:rPr/>
              <a:t>analysis</a:t>
            </a:r>
            <a:r>
              <a:rPr/>
              <a:t> </a:t>
            </a:r>
            <a:r>
              <a:rPr/>
              <a:t>results]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CyberHygiene</a:t>
            </a:r>
            <a:r>
              <a:rPr/>
              <a:t> </a:t>
            </a:r>
            <a:r>
              <a:rPr/>
              <a:t>Project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marL="0" indent="0">
              <a:buNone/>
            </a:pPr>
            <a:r>
              <a:rPr/>
              <a:t>Affordable</a:t>
            </a:r>
            <a:r>
              <a:rPr/>
              <a:t> </a:t>
            </a:r>
            <a:r>
              <a:rPr/>
              <a:t>NIST</a:t>
            </a:r>
            <a:r>
              <a:rPr/>
              <a:t> </a:t>
            </a:r>
            <a:r>
              <a:rPr/>
              <a:t>800-171</a:t>
            </a:r>
            <a:r>
              <a:rPr/>
              <a:t> </a:t>
            </a:r>
            <a:r>
              <a:rPr/>
              <a:t>Compliance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Small</a:t>
            </a:r>
            <a:r>
              <a:rPr/>
              <a:t> </a:t>
            </a:r>
            <a:r>
              <a:rPr/>
              <a:t>Defense</a:t>
            </a:r>
            <a:r>
              <a:rPr/>
              <a:t> </a:t>
            </a:r>
            <a:r>
              <a:rPr/>
              <a:t>Contractors</a:t>
            </a:r>
            <a:br/>
            <a:br/>
            <a:r>
              <a:rPr/>
              <a:t>Donald</a:t>
            </a:r>
            <a:r>
              <a:rPr/>
              <a:t> </a:t>
            </a:r>
            <a:r>
              <a:rPr/>
              <a:t>E.</a:t>
            </a:r>
            <a:r>
              <a:rPr/>
              <a:t> </a:t>
            </a:r>
            <a:r>
              <a:rPr/>
              <a:t>Shannon,</a:t>
            </a:r>
            <a:r>
              <a:rPr/>
              <a:t> </a:t>
            </a:r>
            <a:r>
              <a:rPr/>
              <a:t>PMP,</a:t>
            </a:r>
            <a:r>
              <a:rPr/>
              <a:t> </a:t>
            </a:r>
            <a:r>
              <a:rPr/>
              <a:t>CFCM,</a:t>
            </a:r>
            <a:r>
              <a:rPr/>
              <a:t> </a:t>
            </a:r>
            <a:r>
              <a:rPr/>
              <a:t>CPCM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February</a:t>
            </a:r>
            <a:r>
              <a:rPr/>
              <a:t> </a:t>
            </a:r>
            <a:r>
              <a:rPr/>
              <a:t>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CyberHygiene</a:t>
            </a:r>
            <a:r>
              <a:rPr/>
              <a:t> </a:t>
            </a:r>
            <a:r>
              <a:rPr/>
              <a:t>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Enterprise-Grade Cybersecurity at Small Business Prices</a:t>
            </a:r>
          </a:p>
          <a:p>
            <a:pPr lvl="0" marL="0" indent="0">
              <a:buNone/>
            </a:pPr>
            <a:r>
              <a:rPr/>
              <a:t>A proven approach to achieving affordable NIST SP 800-171 Rev 2 compliance</a:t>
            </a:r>
          </a:p>
          <a:p>
            <a:pPr lvl="1"/>
            <a:r>
              <a:rPr/>
              <a:t>97% System Complete</a:t>
            </a:r>
          </a:p>
          <a:p>
            <a:pPr lvl="1"/>
            <a:r>
              <a:rPr/>
              <a:t>100% OpenSCAP CUI Compliance</a:t>
            </a:r>
          </a:p>
          <a:p>
            <a:pPr lvl="1"/>
            <a:r>
              <a:rPr/>
              <a:t>110 Security Controls Implemented</a:t>
            </a:r>
          </a:p>
          <a:p>
            <a:pPr lvl="1"/>
            <a:r>
              <a:rPr b="1"/>
              <a:t>NEW: AI-Assisted Administration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VSBs Face Critical Barriers</a:t>
            </a:r>
          </a:p>
          <a:p>
            <a:pPr lvl="0" marL="0" indent="0">
              <a:buNone/>
            </a:pPr>
            <a:r>
              <a:rPr b="1"/>
              <a:t>Traditional Compliance Costs: $35,000-$50,000</a:t>
            </a:r>
          </a:p>
          <a:p>
            <a:pPr lvl="1"/>
            <a:r>
              <a:rPr/>
              <a:t>Often exceeds entire first contract value</a:t>
            </a:r>
          </a:p>
          <a:p>
            <a:pPr lvl="1"/>
            <a:r>
              <a:rPr/>
              <a:t>Driving VSB participation down</a:t>
            </a:r>
          </a:p>
          <a:p>
            <a:pPr lvl="1"/>
            <a:r>
              <a:rPr/>
              <a:t>Discouraging new market entrants</a:t>
            </a:r>
          </a:p>
          <a:p>
            <a:pPr lvl="1"/>
            <a:r>
              <a:rPr/>
              <a:t>Threatening innovation in defense contracting</a:t>
            </a:r>
          </a:p>
          <a:p>
            <a:pPr lvl="0" marL="0" indent="0">
              <a:buNone/>
            </a:pPr>
            <a:r>
              <a:rPr b="1"/>
              <a:t>The cost barrier is killing small business participation in the Defense Industrial Base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There’s a Better Way</a:t>
            </a:r>
          </a:p>
          <a:p>
            <a:pPr lvl="0" marL="0" indent="0">
              <a:buNone/>
            </a:pPr>
            <a:r>
              <a:rPr b="1"/>
              <a:t>Strategic use of enterprise open-source tools + modern security practices</a:t>
            </a:r>
          </a:p>
          <a:p>
            <a:pPr lvl="1"/>
            <a:r>
              <a:rPr/>
              <a:t>✅ Enterprise-grade open-source software (zero licensing)</a:t>
            </a:r>
          </a:p>
          <a:p>
            <a:pPr lvl="1"/>
            <a:r>
              <a:rPr/>
              <a:t>✅ Commercial off-the-shelf hardware</a:t>
            </a:r>
          </a:p>
          <a:p>
            <a:pPr lvl="1"/>
            <a:r>
              <a:rPr/>
              <a:t>✅ Proper architecture and planning</a:t>
            </a:r>
          </a:p>
          <a:p>
            <a:pPr lvl="1"/>
            <a:r>
              <a:rPr/>
              <a:t>✅ Government compliance tools (OpenSCAP)</a:t>
            </a:r>
          </a:p>
          <a:p>
            <a:pPr lvl="1"/>
            <a:r>
              <a:rPr/>
              <a:t>✅ Self-service with expert guidance</a:t>
            </a:r>
          </a:p>
          <a:p>
            <a:pPr lvl="0" marL="0" indent="0">
              <a:buNone/>
            </a:pPr>
            <a:r>
              <a:rPr b="1"/>
              <a:t>Result: 90% cost reduction while maintaining full compliance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Project</a:t>
            </a:r>
            <a:r>
              <a:rPr/>
              <a:t> </a:t>
            </a:r>
            <a:r>
              <a:rPr/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Research to Production in 15 Months</a:t>
            </a:r>
          </a:p>
          <a:p>
            <a:pPr lvl="1"/>
            <a:r>
              <a:rPr b="1"/>
              <a:t>2023-2024:</a:t>
            </a:r>
            <a:r>
              <a:rPr/>
              <a:t> Research &amp; feasibility study (NCMA Journal publication)</a:t>
            </a:r>
          </a:p>
          <a:p>
            <a:pPr lvl="1"/>
            <a:r>
              <a:rPr b="1"/>
              <a:t>September 2025:</a:t>
            </a:r>
            <a:r>
              <a:rPr/>
              <a:t> Project initiated with Rocky Linux 9.6</a:t>
            </a:r>
          </a:p>
          <a:p>
            <a:pPr lvl="1"/>
            <a:r>
              <a:rPr b="1"/>
              <a:t>October 2025:</a:t>
            </a:r>
            <a:r>
              <a:rPr/>
              <a:t> Core infrastructure, 100% OpenSCAP compliance</a:t>
            </a:r>
          </a:p>
          <a:p>
            <a:pPr lvl="1"/>
            <a:r>
              <a:rPr b="1"/>
              <a:t>November 2025:</a:t>
            </a:r>
            <a:r>
              <a:rPr/>
              <a:t> Email server deployed, 95% operational</a:t>
            </a:r>
          </a:p>
          <a:p>
            <a:pPr lvl="1"/>
            <a:r>
              <a:rPr b="1"/>
              <a:t>December 2025:</a:t>
            </a:r>
            <a:r>
              <a:rPr/>
              <a:t> ✅ </a:t>
            </a:r>
            <a:r>
              <a:rPr b="1"/>
              <a:t>AI infrastructure deployment</a:t>
            </a:r>
            <a:r>
              <a:rPr/>
              <a:t> ⭐</a:t>
            </a:r>
          </a:p>
          <a:p>
            <a:pPr lvl="1"/>
            <a:r>
              <a:rPr b="1"/>
              <a:t>February 2026:</a:t>
            </a:r>
            <a:r>
              <a:rPr/>
              <a:t> NCMA Nexus demonstration (today!)</a:t>
            </a:r>
          </a:p>
          <a:p>
            <a:pPr lvl="1"/>
            <a:r>
              <a:rPr b="1"/>
              <a:t>Current:</a:t>
            </a:r>
            <a:r>
              <a:rPr/>
              <a:t> Production-ready reference implementation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System</a:t>
            </a:r>
            <a:r>
              <a:rPr/>
              <a:t> </a:t>
            </a:r>
            <a:r>
              <a:rPr/>
              <a:t>Architecture</a:t>
            </a:r>
            <a:r>
              <a:rPr/>
              <a:t> </a:t>
            </a:r>
            <a:r>
              <a:rPr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Complete On-Premises Infrastructure for FCI/CUI</a:t>
            </a:r>
          </a:p>
          <a:p>
            <a:pPr lvl="0" marL="0" indent="0">
              <a:buNone/>
            </a:pPr>
            <a:r>
              <a:rPr b="1"/>
              <a:t>Three-Layer Defense Strategy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Network Layer</a:t>
            </a:r>
            <a:r>
              <a:rPr/>
              <a:t> - pfSense firewall/router - Managed switch with VLANs - IDS/IPS (Suricata) - DNS filtering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Application Layer</a:t>
            </a:r>
            <a:r>
              <a:rPr/>
              <a:t> - Rocky Linux 9.6 - FreeIPA identity management - Apache web services - Email server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Domain</a:t>
            </a:r>
            <a:r>
              <a:rPr/>
              <a:t> </a:t>
            </a:r>
            <a:r>
              <a:rPr/>
              <a:t>Controller</a:t>
            </a:r>
            <a:r>
              <a:rPr/>
              <a:t> </a:t>
            </a:r>
            <a:r>
              <a:rPr/>
              <a:t>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Rocky Linux 9.6 - The Foundation</a:t>
            </a:r>
          </a:p>
          <a:p>
            <a:pPr lvl="0" marL="0" indent="0">
              <a:buNone/>
            </a:pPr>
            <a:r>
              <a:rPr b="1"/>
              <a:t>Identity Management</a:t>
            </a:r>
            <a:r>
              <a:rPr/>
              <a:t> - FreeIPA (centralized authentication) - Kerberos (strong authentication) - LDAP directory services - Integrated Certificate Authority</a:t>
            </a:r>
          </a:p>
          <a:p>
            <a:pPr lvl="0" marL="0" indent="0">
              <a:buNone/>
            </a:pPr>
            <a:r>
              <a:rPr b="1"/>
              <a:t>Security Foundation</a:t>
            </a:r>
            <a:r>
              <a:rPr/>
              <a:t> - FIPS 140-2 cryptographic mode - Full-disk encryption (LUKS2) - SELinux enforcing mode - Automated security updates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Security</a:t>
            </a:r>
            <a:r>
              <a:rPr/>
              <a:t> </a:t>
            </a:r>
            <a:r>
              <a:rPr/>
              <a:t>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Wazuh SIEM - Enterprise Monitoring at $0 Cost</a:t>
            </a:r>
          </a:p>
          <a:p>
            <a:pPr lvl="0" marL="0" indent="0">
              <a:buNone/>
            </a:pPr>
            <a:r>
              <a:rPr b="1"/>
              <a:t>Comprehensive Security Monitoring</a:t>
            </a:r>
            <a:r>
              <a:rPr/>
              <a:t> - Security Information &amp; Event Management (SIEM) - Extended Detection &amp; Response (XDR) - File Integrity Monitoring (FIM) - Vulnerability detection &amp; assessment - YARA malware detection - VirusTotal integration (70+ AV engines)</a:t>
            </a:r>
          </a:p>
          <a:p>
            <a:pPr lvl="0" marL="0" indent="0">
              <a:buNone/>
            </a:pPr>
            <a:r>
              <a:rPr b="1"/>
              <a:t>Continuous Compliance</a:t>
            </a:r>
            <a:r>
              <a:rPr/>
              <a:t> - 24/7 automated monitoring - Real-time alerting - Comprehensive audit logging - Integration with AI analysis ⭐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🤖</a:t>
            </a:r>
            <a:r>
              <a:rPr/>
              <a:t> </a:t>
            </a:r>
            <a:r>
              <a:rPr/>
              <a:t>AI</a:t>
            </a:r>
            <a:r>
              <a:rPr/>
              <a:t> </a:t>
            </a:r>
            <a:r>
              <a:rPr/>
              <a:t>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December 2025 Achievement</a:t>
            </a:r>
          </a:p>
          <a:p>
            <a:pPr lvl="0" marL="0" indent="0">
              <a:buNone/>
            </a:pPr>
            <a:r>
              <a:rPr b="1"/>
              <a:t>Local AI Assistant for System Administration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i-dashboard-screensh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27200" y="1600200"/>
            <a:ext cx="56769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AI</a:t>
            </a:r>
            <a:r>
              <a:rPr/>
              <a:t> </a:t>
            </a:r>
            <a:r>
              <a:rPr/>
              <a:t>Dashboard</a:t>
            </a:r>
            <a:r>
              <a:rPr/>
              <a:t> </a:t>
            </a:r>
            <a:r>
              <a:rPr/>
              <a:t>Screenshot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100% Internal Processing - CMMC Compliant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AI</a:t>
            </a:r>
            <a:r>
              <a:rPr/>
              <a:t> </a:t>
            </a:r>
            <a:r>
              <a:rPr/>
              <a:t>Infrastructure:</a:t>
            </a:r>
            <a:r>
              <a:rPr/>
              <a:t> </a:t>
            </a:r>
            <a:r>
              <a:rPr/>
              <a:t>Key</a:t>
            </a:r>
            <a:r>
              <a:rPr/>
              <a:t> </a:t>
            </a:r>
            <a:r>
              <a:rPr/>
              <a:t>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Innovation Meets Compliance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Technical Wins</a:t>
            </a:r>
            <a:r>
              <a:rPr/>
              <a:t> - ✅ Zero external dependencies - ✅ Real command execution - ✅ Security-first design - ✅ 2-day implementation - ✅ 100% uptime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Business Wins</a:t>
            </a:r>
            <a:r>
              <a:rPr/>
              <a:t> - ✅ $0 budget impact - ✅ 97% POA&amp;M completion - ✅ CMMC compliant - ✅ 60% time savings - ✅ Audit support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Command Whitelist Security:</a:t>
            </a:r>
            <a:r>
              <a:rPr/>
              <a:t> Only 18 pre-approved commands can execute </a:t>
            </a:r>
            <a:r>
              <a:rPr b="1"/>
              <a:t>No Hallucinations:</a:t>
            </a:r>
            <a:r>
              <a:rPr/>
              <a:t> AI analyzes real system data, not invented responses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AI</a:t>
            </a:r>
            <a:r>
              <a:rPr/>
              <a:t> </a:t>
            </a:r>
            <a:r>
              <a:rPr/>
              <a:t>Dashboard</a:t>
            </a:r>
            <a:r>
              <a:rPr/>
              <a:t> </a:t>
            </a:r>
            <a:r>
              <a:rPr/>
              <a:t>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Four Integrated Analysis Modes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🔐 Security Analysis</a:t>
            </a:r>
            <a:r>
              <a:rPr/>
              <a:t> - Wazuh alert analysis - SSH log review - SELinux audit logs - Security expert mode</a:t>
            </a:r>
          </a:p>
          <a:p>
            <a:pPr lvl="0" marL="0" indent="0">
              <a:buNone/>
            </a:pPr>
            <a:r>
              <a:rPr b="1"/>
              <a:t>📊 System Logs</a:t>
            </a:r>
            <a:r>
              <a:rPr/>
              <a:t> - Apache error analysis - System messages - Journal errors - Custom queries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⚙️ System Management</a:t>
            </a:r>
            <a:r>
              <a:rPr/>
              <a:t> - CPU troubleshooting - Disk space analysis - Memory diagnostics - Linux admin expert</a:t>
            </a:r>
          </a:p>
          <a:p>
            <a:pPr lvl="0" marL="0" indent="0">
              <a:buNone/>
            </a:pPr>
            <a:r>
              <a:rPr b="1"/>
              <a:t>🚀 Quick Commands</a:t>
            </a:r>
            <a:r>
              <a:rPr/>
              <a:t> - FreeIPA troubleshooting - Firewall configuration - DNS diagnostics - Network tools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AI</a:t>
            </a:r>
            <a:r>
              <a:rPr/>
              <a:t> </a:t>
            </a:r>
            <a:r>
              <a:rPr/>
              <a:t>Technical</a:t>
            </a:r>
            <a:r>
              <a:rPr/>
              <a:t> </a:t>
            </a:r>
            <a:r>
              <a:rPr/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Local Model + Secure Backend</a:t>
            </a:r>
          </a:p>
          <a:p>
            <a:pPr lvl="0" marL="0" indent="0">
              <a:buNone/>
            </a:pPr>
            <a:r>
              <a:rPr b="1"/>
              <a:t>AI Stack</a:t>
            </a:r>
            <a:r>
              <a:rPr/>
              <a:t> - </a:t>
            </a:r>
            <a:r>
              <a:rPr b="1"/>
              <a:t>Model:</a:t>
            </a:r>
            <a:r>
              <a:rPr/>
              <a:t> Code Llama 7B (Q4_0 quantization) - </a:t>
            </a:r>
            <a:r>
              <a:rPr b="1"/>
              <a:t>Server:</a:t>
            </a:r>
            <a:r>
              <a:rPr/>
              <a:t> Ollama on Mac Mini (ai.cyberinabox.net:11434) - </a:t>
            </a:r>
            <a:r>
              <a:rPr b="1"/>
              <a:t>Backend:</a:t>
            </a:r>
            <a:r>
              <a:rPr/>
              <a:t> Flask API with command whitelist - </a:t>
            </a:r>
            <a:r>
              <a:rPr b="1"/>
              <a:t>Interface:</a:t>
            </a:r>
            <a:r>
              <a:rPr/>
              <a:t> HTTPS web dashboard - </a:t>
            </a:r>
            <a:r>
              <a:rPr b="1"/>
              <a:t>Runtime:</a:t>
            </a:r>
            <a:r>
              <a:rPr/>
              <a:t> Python 3.12 with 120+ dependencies</a:t>
            </a:r>
          </a:p>
          <a:p>
            <a:pPr lvl="0" marL="0" indent="0">
              <a:buNone/>
            </a:pPr>
            <a:r>
              <a:rPr b="1"/>
              <a:t>Security Controls</a:t>
            </a:r>
            <a:r>
              <a:rPr/>
              <a:t> - ✅ SELinux enforcing mode - ✅ Localhost-only binding - ✅ Comprehensive audit logging - ✅ Input validation &amp; sanitization - ✅ No arbitrary command execution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NIST</a:t>
            </a:r>
            <a:r>
              <a:rPr/>
              <a:t> </a:t>
            </a:r>
            <a:r>
              <a:rPr/>
              <a:t>800-171</a:t>
            </a:r>
            <a:r>
              <a:rPr/>
              <a:t> </a:t>
            </a:r>
            <a:r>
              <a:rPr/>
              <a:t>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100% OpenSCAP Validation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All 14 Control Families</a:t>
            </a:r>
            <a:r>
              <a:rPr/>
              <a:t> - ✓ Access Control (AC) - ✓ Audit &amp; Accountability (AU) - ✓ Configuration Management (CM) - ✓ Identification &amp; Auth (IA) - ✓ Incident Response (IR) - ✓ Maintenance (MA) - ✓ Media Protection (MP)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Complete Coverage</a:t>
            </a:r>
            <a:r>
              <a:rPr/>
              <a:t> - ✓ Personnel Security (PS) - ✓ Physical Protection (PE) - ✓ Risk Assessment (RA) - ✓ Security Assessment (CA) - ✓ System &amp; Comm Protection (SC) - ✓ System &amp; Info Integrity (SI) - ✓ Awareness &amp; Training (AT)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110 Security Requirements Implemented and Validated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AI</a:t>
            </a:r>
            <a:r>
              <a:rPr/>
              <a:t> </a:t>
            </a:r>
            <a:r>
              <a:rPr/>
              <a:t>Security</a:t>
            </a:r>
            <a:r>
              <a:rPr/>
              <a:t> </a:t>
            </a:r>
            <a:r>
              <a:rPr/>
              <a:t>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Maintaining Compliance with AI</a:t>
            </a:r>
          </a:p>
          <a:p>
            <a:pPr lvl="0" marL="0" indent="0">
              <a:buNone/>
            </a:pPr>
            <a:r>
              <a:rPr b="1"/>
              <a:t>NIST 800-171 Controls for AI Infrastructure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Evidence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AC-2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Service</a:t>
                      </a:r>
                      <a:r>
                        <a:rPr/>
                        <a:t> </a:t>
                      </a:r>
                      <a:r>
                        <a:rPr/>
                        <a:t>account</a:t>
                      </a:r>
                      <a:r>
                        <a:rPr/>
                        <a:t> </a:t>
                      </a:r>
                      <a:r>
                        <a:rPr/>
                        <a:t>management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systemd</a:t>
                      </a:r>
                      <a:r>
                        <a:rPr/>
                        <a:t> </a:t>
                      </a:r>
                      <a:r>
                        <a:rPr/>
                        <a:t>service</a:t>
                      </a:r>
                      <a:r>
                        <a:rPr/>
                        <a:t> </a:t>
                      </a:r>
                      <a:r>
                        <a:rPr/>
                        <a:t>definition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AC-3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Command</a:t>
                      </a:r>
                      <a:r>
                        <a:rPr/>
                        <a:t> </a:t>
                      </a:r>
                      <a:r>
                        <a:rPr/>
                        <a:t>whitelist</a:t>
                      </a:r>
                      <a:r>
                        <a:rPr/>
                        <a:t> </a:t>
                      </a:r>
                      <a:r>
                        <a:rPr/>
                        <a:t>enforcement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18</a:t>
                      </a:r>
                      <a:r>
                        <a:rPr/>
                        <a:t> </a:t>
                      </a:r>
                      <a:r>
                        <a:rPr/>
                        <a:t>whitelisted</a:t>
                      </a:r>
                      <a:r>
                        <a:rPr/>
                        <a:t> </a:t>
                      </a:r>
                      <a:r>
                        <a:rPr/>
                        <a:t>commands</a:t>
                      </a:r>
                      <a:r>
                        <a:rPr/>
                        <a:t> </a:t>
                      </a:r>
                      <a:r>
                        <a:rPr/>
                        <a:t>only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AU-2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Comprehensive</a:t>
                      </a:r>
                      <a:r>
                        <a:rPr/>
                        <a:t> </a:t>
                      </a:r>
                      <a:r>
                        <a:rPr/>
                        <a:t>audit</a:t>
                      </a:r>
                      <a:r>
                        <a:rPr/>
                        <a:t> </a:t>
                      </a:r>
                      <a:r>
                        <a:rPr/>
                        <a:t>logging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All</a:t>
                      </a:r>
                      <a:r>
                        <a:rPr/>
                        <a:t> </a:t>
                      </a:r>
                      <a:r>
                        <a:rPr/>
                        <a:t>commands</a:t>
                      </a:r>
                      <a:r>
                        <a:rPr/>
                        <a:t> </a:t>
                      </a:r>
                      <a:r>
                        <a:rPr/>
                        <a:t>logged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CM-7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Least</a:t>
                      </a:r>
                      <a:r>
                        <a:rPr/>
                        <a:t> </a:t>
                      </a:r>
                      <a:r>
                        <a:rPr/>
                        <a:t>functionality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No</a:t>
                      </a:r>
                      <a:r>
                        <a:rPr/>
                        <a:t> </a:t>
                      </a:r>
                      <a:r>
                        <a:rPr/>
                        <a:t>arbitrary</a:t>
                      </a:r>
                      <a:r>
                        <a:rPr/>
                        <a:t> </a:t>
                      </a:r>
                      <a:r>
                        <a:rPr/>
                        <a:t>execution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SC-7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Boundary</a:t>
                      </a:r>
                      <a:r>
                        <a:rPr/>
                        <a:t> </a:t>
                      </a:r>
                      <a:r>
                        <a:rPr/>
                        <a:t>protection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Internal</a:t>
                      </a:r>
                      <a:r>
                        <a:rPr/>
                        <a:t> </a:t>
                      </a:r>
                      <a:r>
                        <a:rPr/>
                        <a:t>network</a:t>
                      </a:r>
                      <a:r>
                        <a:rPr/>
                        <a:t> </a:t>
                      </a:r>
                      <a:r>
                        <a:rPr/>
                        <a:t>only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SI-4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Enhanced</a:t>
                      </a:r>
                      <a:r>
                        <a:rPr/>
                        <a:t> </a:t>
                      </a:r>
                      <a:r>
                        <a:rPr/>
                        <a:t>monitoring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AI-assisted</a:t>
                      </a:r>
                      <a:r>
                        <a:rPr/>
                        <a:t> </a:t>
                      </a:r>
                      <a:r>
                        <a:rPr/>
                        <a:t>log</a:t>
                      </a:r>
                      <a:r>
                        <a:rPr/>
                        <a:t> </a:t>
                      </a:r>
                      <a:r>
                        <a:rPr/>
                        <a:t>analysis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Documentation:</a:t>
            </a:r>
            <a:r>
              <a:rPr/>
              <a:t> 15KB SSP Addendum + Updated SBOM v2.0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Management</a:t>
            </a:r>
            <a:r>
              <a:rPr/>
              <a:t> </a:t>
            </a:r>
            <a:r>
              <a:rPr/>
              <a:t>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Custom Dashboards Replace Expensive Software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📊 CPM System Dashboard</a:t>
            </a:r>
            <a:r>
              <a:rPr/>
              <a:t> - Real-time system monitoring - Security alert aggregation - Service availability tracking - Quick access to all tools - Compliance metrics</a:t>
            </a:r>
          </a:p>
          <a:p>
            <a:pPr lvl="0" marL="0" indent="0">
              <a:buNone/>
            </a:pPr>
            <a:r>
              <a:rPr b="1"/>
              <a:t>Replaces:</a:t>
            </a:r>
            <a:r>
              <a:rPr/>
              <a:t> $5,000-15,000/year commercial platforms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📋 Policy Index</a:t>
            </a:r>
            <a:r>
              <a:rPr/>
              <a:t> - 110 NIST controls mapped - Policy-to-evidence links - Implementation tracking - Audit readiness - POA&amp;M integration</a:t>
            </a:r>
          </a:p>
          <a:p>
            <a:pPr lvl="0" marL="0" indent="0">
              <a:buNone/>
            </a:pPr>
            <a:r>
              <a:rPr b="1"/>
              <a:t>Benefit:</a:t>
            </a:r>
            <a:r>
              <a:rPr/>
              <a:t> Audit prep reduced from days to hours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🤖 AI Dashboard</a:t>
            </a:r>
            <a:r>
              <a:rPr/>
              <a:t> - Latest addition for intelligent system administration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Technology</a:t>
            </a:r>
            <a:r>
              <a:rPr/>
              <a:t> </a:t>
            </a:r>
            <a:r>
              <a:rPr/>
              <a:t>Stack</a:t>
            </a:r>
            <a:r>
              <a:rPr/>
              <a:t> </a:t>
            </a:r>
            <a:r>
              <a:rPr/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Enterprise Open-Source = $0 Licensing</a:t>
            </a:r>
          </a:p>
          <a:p>
            <a:pPr lvl="0" marL="0" indent="0">
              <a:buNone/>
            </a:pPr>
            <a:r>
              <a:rPr b="1"/>
              <a:t>Core Platform</a:t>
            </a:r>
            <a:r>
              <a:rPr/>
              <a:t> - Rocky Linux 9.6 (RHEL-compatible) - FreeIPA (Identity Management) - Apache HTTP Server - Wazuh 4.9.2 (SIEM/XDR)</a:t>
            </a:r>
          </a:p>
          <a:p>
            <a:pPr lvl="0" marL="0" indent="0">
              <a:buNone/>
            </a:pPr>
            <a:r>
              <a:rPr b="1"/>
              <a:t>Security</a:t>
            </a:r>
            <a:r>
              <a:rPr/>
              <a:t> - OpenSCAP (Compliance scanning) - SELinux (Mandatory access control) - LUKS2 (Full-disk encryption) - Auditd (System auditing)</a:t>
            </a:r>
          </a:p>
          <a:p>
            <a:pPr lvl="0" marL="0" indent="0">
              <a:buNone/>
            </a:pPr>
            <a:r>
              <a:rPr b="1"/>
              <a:t>AI Infrastructure</a:t>
            </a:r>
            <a:r>
              <a:rPr/>
              <a:t> ⭐ - Ollama (AI model server) - Code Llama 7B - Aider 0.86.1 - Flask API + Python 3.12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Software</a:t>
            </a:r>
            <a:r>
              <a:rPr/>
              <a:t> </a:t>
            </a:r>
            <a:r>
              <a:rPr/>
              <a:t>Bill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Materials</a:t>
            </a:r>
            <a:r>
              <a:rPr/>
              <a:t> </a:t>
            </a:r>
            <a:r>
              <a:rPr/>
              <a:t>(SBOM)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Complete Component Inventory</a:t>
            </a:r>
          </a:p>
          <a:p>
            <a:pPr lvl="0" marL="0" indent="0">
              <a:buNone/>
            </a:pPr>
            <a:r>
              <a:rPr b="1"/>
              <a:t>SBOM v2.0 - December 2025 Update</a:t>
            </a:r>
          </a:p>
          <a:p>
            <a:pPr lvl="1"/>
            <a:r>
              <a:rPr b="1"/>
              <a:t>Total Packages:</a:t>
            </a:r>
            <a:r>
              <a:rPr/>
              <a:t> 1,750+</a:t>
            </a:r>
          </a:p>
          <a:p>
            <a:pPr lvl="1"/>
            <a:r>
              <a:rPr b="1"/>
              <a:t>AI Components:</a:t>
            </a:r>
            <a:r>
              <a:rPr/>
              <a:t> 120+ Python packages documented</a:t>
            </a:r>
          </a:p>
          <a:p>
            <a:pPr lvl="1"/>
            <a:r>
              <a:rPr b="1"/>
              <a:t>Platform:</a:t>
            </a:r>
            <a:r>
              <a:rPr/>
              <a:t> Rocky Linux 9.6 with FIPS mode</a:t>
            </a:r>
          </a:p>
          <a:p>
            <a:pPr lvl="1"/>
            <a:r>
              <a:rPr b="1"/>
              <a:t>Services:</a:t>
            </a:r>
            <a:r>
              <a:rPr/>
              <a:t> 15+ production services</a:t>
            </a:r>
          </a:p>
          <a:p>
            <a:pPr lvl="0" marL="0" indent="0">
              <a:buNone/>
            </a:pPr>
            <a:r>
              <a:rPr b="1"/>
              <a:t>Supports:</a:t>
            </a:r>
            <a:r>
              <a:rPr/>
              <a:t> - ✅ Supply chain security - ✅ Vulnerability management - ✅ License compliance - ✅ Audit evidence (CMMC CM-8 requirement)</a:t>
            </a:r>
          </a:p>
          <a:p>
            <a:pPr lvl="0" marL="0" indent="0">
              <a:buNone/>
            </a:pPr>
            <a:r>
              <a:rPr b="1"/>
              <a:t>Available:</a:t>
            </a:r>
            <a:r>
              <a:rPr/>
              <a:t> https://192.168.1.10/Software_Bill_of_Materials.md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POA&amp;M</a:t>
            </a:r>
            <a:r>
              <a:rPr/>
              <a:t> </a:t>
            </a:r>
            <a:r>
              <a:rPr/>
              <a:t>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Plan of Action &amp; Milestones v2.5</a:t>
            </a:r>
          </a:p>
          <a:p>
            <a:pPr lvl="0" marL="0" indent="0">
              <a:buNone/>
            </a:pPr>
            <a:r>
              <a:rPr b="1"/>
              <a:t>Outstanding Progress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Q4 2025 Performance</a:t>
            </a:r>
            <a:r>
              <a:rPr/>
              <a:t> - Items Completed: 3 - New Items Added: 2 - Net Progress: +1 - </a:t>
            </a:r>
            <a:r>
              <a:rPr b="1"/>
              <a:t>Completion: 88% → 97%</a:t>
            </a:r>
            <a:r>
              <a:rPr/>
              <a:t> 🎯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December Closures</a:t>
            </a:r>
            <a:r>
              <a:rPr/>
              <a:t> - ✅ AI Infrastructure Deploy - ✅ Command Execution Backend - ✅ Documentation Updates - ✅ Software Inventory (100%)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Only 1 Open Item:</a:t>
            </a:r>
            <a:r>
              <a:rPr/>
              <a:t> Medium risk dependency updates (scheduled Feb 2026)</a:t>
            </a:r>
          </a:p>
          <a:p>
            <a:pPr lvl="0" marL="0" indent="0">
              <a:buNone/>
            </a:pPr>
            <a:r>
              <a:rPr b="1"/>
              <a:t>Trend:</a:t>
            </a:r>
            <a:r>
              <a:rPr/>
              <a:t> ✅ Consistent quarterly improvement (75% → 82% → 86% → 97%)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Implementation</a:t>
            </a:r>
            <a:r>
              <a:rPr/>
              <a:t> </a:t>
            </a:r>
            <a:r>
              <a:rPr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Real-World Outcomes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Technical Success</a:t>
            </a:r>
            <a:r>
              <a:rPr/>
              <a:t> - 97% system completion - All services operational - Zero security incidents - 100% service uptime - Automated backups (3-2-1)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Compliance Success</a:t>
            </a:r>
            <a:r>
              <a:rPr/>
              <a:t> - 100% OpenSCAP pass - 110 controls implemented - CMMC Level 2 ready - Audit-ready evidence - Comprehensive docs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Implementation</a:t>
            </a:r>
            <a:r>
              <a:rPr/>
              <a:t> </a:t>
            </a:r>
            <a:r>
              <a:rPr/>
              <a:t>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By The Numbers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Implementation</a:t>
                      </a:r>
                      <a:r>
                        <a:rPr/>
                        <a:t> </a:t>
                      </a:r>
                      <a:r>
                        <a:rPr/>
                        <a:t>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8</a:t>
                      </a:r>
                      <a:r>
                        <a:rPr/>
                        <a:t> </a:t>
                      </a:r>
                      <a:r>
                        <a:rPr/>
                        <a:t>weeks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Security</a:t>
                      </a:r>
                      <a:r>
                        <a:rPr/>
                        <a:t> </a:t>
                      </a:r>
                      <a:r>
                        <a:rPr/>
                        <a:t>Controls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Control</a:t>
                      </a:r>
                      <a:r>
                        <a:rPr/>
                        <a:t> </a:t>
                      </a:r>
                      <a:r>
                        <a:rPr/>
                        <a:t>Families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14/14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Compliance</a:t>
                      </a:r>
                      <a:r>
                        <a:rPr/>
                        <a:t> </a:t>
                      </a:r>
                      <a:r>
                        <a:rPr/>
                        <a:t>Score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Services</a:t>
                      </a:r>
                      <a:r>
                        <a:rPr/>
                        <a:t> </a:t>
                      </a:r>
                      <a:r>
                        <a:rPr/>
                        <a:t>Deployed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15+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Documentation</a:t>
                      </a:r>
                      <a:r>
                        <a:rPr/>
                        <a:t> </a:t>
                      </a:r>
                      <a:r>
                        <a:rPr/>
                        <a:t>Pages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1,000+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AI</a:t>
                      </a:r>
                      <a:r>
                        <a:rPr b="1"/>
                        <a:t> </a:t>
                      </a:r>
                      <a:r>
                        <a:rPr b="1"/>
                        <a:t>Deployment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2</a:t>
                      </a:r>
                      <a:r>
                        <a:rPr b="1"/>
                        <a:t> </a:t>
                      </a:r>
                      <a:r>
                        <a:rPr b="1"/>
                        <a:t>days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POA&amp;M</a:t>
                      </a:r>
                      <a:r>
                        <a:rPr b="1"/>
                        <a:t> </a:t>
                      </a:r>
                      <a:r>
                        <a:rPr b="1"/>
                        <a:t>Completion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97%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80%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Cost</a:t>
            </a:r>
            <a:r>
              <a:rPr/>
              <a:t> </a:t>
            </a:r>
            <a:r>
              <a:rPr/>
              <a:t>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Breaking the $35K-$50K Barrier</a:t>
            </a:r>
          </a:p>
          <a:p>
            <a:pPr lvl="0" marL="0" indent="0">
              <a:buNone/>
            </a:pPr>
            <a:r>
              <a:rPr b="1"/>
              <a:t>Traditional Approach:</a:t>
            </a:r>
            <a:r>
              <a:rPr/>
              <a:t> - Managed security services: $2,000-5,000/month - Compliance software: $5,000-15,000/year - Identity management: $10,000-25,000 - SIEM/monitoring: $5,000-20,000/year - Implementation consulting: $15,000-30,000 - </a:t>
            </a:r>
            <a:r>
              <a:rPr b="1"/>
              <a:t>Total Year 1: $50,000-$100,000+</a:t>
            </a:r>
          </a:p>
          <a:p>
            <a:pPr lvl="0" marL="0" indent="0">
              <a:buNone/>
            </a:pPr>
            <a:r>
              <a:rPr b="1"/>
              <a:t>CyberHygiene Approach:</a:t>
            </a:r>
            <a:r>
              <a:rPr/>
              <a:t> - Hardware (one-time): ~$3,000-5,000 - Software licensing: $0 - Monthly subscriptions: $0 - AI infrastructure: $0 (existing Mac Mini) - Implementation: Internal (knowledge transfer) - </a:t>
            </a:r>
            <a:r>
              <a:rPr b="1"/>
              <a:t>Total Year 1: $3,000-$5,000</a:t>
            </a:r>
          </a:p>
          <a:p>
            <a:pPr lvl="0" marL="0" indent="0">
              <a:buNone/>
            </a:pPr>
            <a:r>
              <a:rPr b="1"/>
              <a:t>90%+ Cost Reduction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Why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Matters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VSBs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Making Defense Contracting Accessible</a:t>
            </a:r>
          </a:p>
          <a:p>
            <a:pPr lvl="0" marL="0" indent="0">
              <a:buNone/>
            </a:pPr>
            <a:r>
              <a:rPr b="1"/>
              <a:t>The Problem:</a:t>
            </a:r>
            <a:r>
              <a:rPr/>
              <a:t> - First contracts often worth $25,000-$50,000 - Traditional compliance costs equal or exceed contract value - VSBs forced to decline opportunities - Innovation and competition suffering</a:t>
            </a:r>
          </a:p>
          <a:p>
            <a:pPr lvl="0" marL="0" indent="0">
              <a:buNone/>
            </a:pPr>
            <a:r>
              <a:rPr b="1"/>
              <a:t>The Solution:</a:t>
            </a:r>
            <a:r>
              <a:rPr/>
              <a:t> - Compliance costs reduced to ~$5,000 - Profitable on first contract - VSBs can compete fairly - More innovation in DIB</a:t>
            </a:r>
          </a:p>
          <a:p>
            <a:pPr lvl="0" marL="0" indent="0">
              <a:buNone/>
            </a:pPr>
            <a:r>
              <a:rPr b="1"/>
              <a:t>Impact:</a:t>
            </a:r>
            <a:r>
              <a:rPr/>
              <a:t> Removes the primary barrier to VSB participation in defense contracting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Lessons</a:t>
            </a:r>
            <a:r>
              <a:rPr/>
              <a:t> </a:t>
            </a:r>
            <a:r>
              <a:rPr/>
              <a:t>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Key Takeaways from 8 Weeks Implementation</a:t>
            </a:r>
          </a:p>
          <a:p>
            <a:pPr lvl="0" marL="0" indent="0">
              <a:buNone/>
            </a:pPr>
            <a:r>
              <a:rPr b="1"/>
              <a:t>What Worked:</a:t>
            </a:r>
            <a:r>
              <a:rPr/>
              <a:t> - ✅ Open source is enterprise ready - ✅ FIPS compliance is achievable - ✅ Automation reduces maintenance - ✅ Documentation is critical - ✅ Small can be secure - ✅ AI enhances compliance (NEW!)</a:t>
            </a:r>
          </a:p>
          <a:p>
            <a:pPr lvl="0" marL="0" indent="0">
              <a:buNone/>
            </a:pPr>
            <a:r>
              <a:rPr b="1"/>
              <a:t>Challenges Overcome:</a:t>
            </a:r>
            <a:r>
              <a:rPr/>
              <a:t> - Component compatibility in FIPS mode - Learning curve for enterprise tools - Integration complexity - AI hallucination prevention</a:t>
            </a:r>
          </a:p>
          <a:p>
            <a:pPr lvl="0" marL="0" indent="0">
              <a:buNone/>
            </a:pPr>
            <a:r>
              <a:rPr b="1"/>
              <a:t>Best Practice:</a:t>
            </a:r>
            <a:r>
              <a:rPr/>
              <a:t> Security by design, not as afterthought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AI</a:t>
            </a:r>
            <a:r>
              <a:rPr/>
              <a:t> </a:t>
            </a:r>
            <a:r>
              <a:rPr/>
              <a:t>Infrastructure:</a:t>
            </a:r>
            <a:r>
              <a:rPr/>
              <a:t> </a:t>
            </a:r>
            <a:r>
              <a:rPr/>
              <a:t>Lessons</a:t>
            </a:r>
            <a:r>
              <a:rPr/>
              <a:t> </a:t>
            </a:r>
            <a:r>
              <a:rPr/>
              <a:t>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What We Learned Deploying AI</a:t>
            </a:r>
          </a:p>
          <a:p>
            <a:pPr lvl="0" marL="0" indent="0">
              <a:buNone/>
            </a:pPr>
            <a:r>
              <a:rPr b="1"/>
              <a:t>Successes:</a:t>
            </a:r>
            <a:r>
              <a:rPr/>
              <a:t> - ✅ Rapid deployment (2 days planning → production) - ✅ Zero external dependencies achievable - ✅ Command whitelist prevents security issues - ✅ Real data eliminates hallucinations - ✅ CMMC compliance maintained - ✅ Significant time savings (60% on troubleshooting)</a:t>
            </a:r>
          </a:p>
          <a:p>
            <a:pPr lvl="0" marL="0" indent="0">
              <a:buNone/>
            </a:pPr>
            <a:r>
              <a:rPr b="1"/>
              <a:t>Challenges:</a:t>
            </a:r>
            <a:r>
              <a:rPr/>
              <a:t> - Initially tried Goose CLI (dependency issues) - Pivoted to Aider (more mature) - AI hallucinations with generic prompts - Solved with command execution backend</a:t>
            </a:r>
          </a:p>
          <a:p>
            <a:pPr lvl="0" marL="0" indent="0">
              <a:buNone/>
            </a:pPr>
            <a:r>
              <a:rPr b="1"/>
              <a:t>Key Insight:</a:t>
            </a:r>
            <a:r>
              <a:rPr/>
              <a:t> AI is powerful but must be grounded in real data and secured properly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Live</a:t>
            </a:r>
            <a:r>
              <a:rPr/>
              <a:t> </a:t>
            </a:r>
            <a:r>
              <a:rPr/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AI Dashboard in Action</a:t>
            </a:r>
          </a:p>
          <a:p>
            <a:pPr lvl="0" marL="0" indent="0">
              <a:buNone/>
            </a:pPr>
            <a:r>
              <a:rPr b="1"/>
              <a:t>Demonstration Capabilities:</a:t>
            </a:r>
          </a:p>
          <a:p>
            <a:pPr lvl="1">
              <a:buAutoNum type="arabicPeriod"/>
            </a:pPr>
            <a:r>
              <a:rPr b="1"/>
              <a:t>Security Analysis</a:t>
            </a:r>
            <a:r>
              <a:rPr/>
              <a:t> - Analyze Wazuh alerts for threats</a:t>
            </a:r>
          </a:p>
          <a:p>
            <a:pPr lvl="1">
              <a:buAutoNum type="arabicPeriod"/>
            </a:pPr>
            <a:r>
              <a:rPr b="1"/>
              <a:t>Log Analysis</a:t>
            </a:r>
            <a:r>
              <a:rPr/>
              <a:t> - Review SSH authentication attempts</a:t>
            </a:r>
          </a:p>
          <a:p>
            <a:pPr lvl="1">
              <a:buAutoNum type="arabicPeriod"/>
            </a:pPr>
            <a:r>
              <a:rPr b="1"/>
              <a:t>System Diagnostics</a:t>
            </a:r>
            <a:r>
              <a:rPr/>
              <a:t> - Troubleshoot CPU/memory/disk issues</a:t>
            </a:r>
          </a:p>
          <a:p>
            <a:pPr lvl="1">
              <a:buAutoNum type="arabicPeriod"/>
            </a:pPr>
            <a:r>
              <a:rPr b="1"/>
              <a:t>Expert Mode</a:t>
            </a:r>
            <a:r>
              <a:rPr/>
              <a:t> - Get detailed recommendations</a:t>
            </a:r>
          </a:p>
          <a:p>
            <a:pPr lvl="0" marL="0" indent="0">
              <a:buNone/>
            </a:pPr>
            <a:r>
              <a:rPr b="1"/>
              <a:t>All processing happens on internal network</a:t>
            </a:r>
            <a:r>
              <a:rPr/>
              <a:t> </a:t>
            </a:r>
            <a:r>
              <a:rPr b="1"/>
              <a:t>All data stays within facility boundaries</a:t>
            </a:r>
            <a:r>
              <a:rPr/>
              <a:t> </a:t>
            </a:r>
            <a:r>
              <a:rPr b="1"/>
              <a:t>Full CMMC compliance maintained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Documentation</a:t>
            </a:r>
            <a:r>
              <a:rPr/>
              <a:t> </a:t>
            </a:r>
            <a:r>
              <a:rPr/>
              <a:t>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Comprehensive Compliance Evidence</a:t>
            </a:r>
          </a:p>
          <a:p>
            <a:pPr lvl="0" marL="0" indent="0">
              <a:buNone/>
            </a:pPr>
            <a:r>
              <a:rPr b="1"/>
              <a:t>Available Documentation:</a:t>
            </a:r>
          </a:p>
          <a:p>
            <a:pPr lvl="1"/>
            <a:r>
              <a:rPr/>
              <a:t>✅ System Security Plan (SSP) - 99% complete</a:t>
            </a:r>
          </a:p>
          <a:p>
            <a:pPr lvl="1"/>
            <a:r>
              <a:rPr/>
              <a:t>✅ SSP AI Infrastructure Addendum - 15KB, 14 pages</a:t>
            </a:r>
          </a:p>
          <a:p>
            <a:pPr lvl="1"/>
            <a:r>
              <a:rPr/>
              <a:t>✅ Software Bill of Materials (SBOM) v2.0</a:t>
            </a:r>
          </a:p>
          <a:p>
            <a:pPr lvl="1"/>
            <a:r>
              <a:rPr/>
              <a:t>✅ Plan of Action &amp; Milestones (POA&amp;M) v2.5 - 97% complete</a:t>
            </a:r>
          </a:p>
          <a:p>
            <a:pPr lvl="1"/>
            <a:r>
              <a:rPr/>
              <a:t>✅ Policy Index - 8 policies, 110 controls mapped</a:t>
            </a:r>
          </a:p>
          <a:p>
            <a:pPr lvl="1"/>
            <a:r>
              <a:rPr/>
              <a:t>✅ Technical Architecture Documentation</a:t>
            </a:r>
          </a:p>
          <a:p>
            <a:pPr lvl="1"/>
            <a:r>
              <a:rPr/>
              <a:t>✅ OpenSCAP Compliance Reports</a:t>
            </a:r>
          </a:p>
          <a:p>
            <a:pPr lvl="1"/>
            <a:r>
              <a:rPr/>
              <a:t>✅ Audit Evidence Package</a:t>
            </a:r>
          </a:p>
          <a:p>
            <a:pPr lvl="1"/>
            <a:r>
              <a:rPr/>
              <a:t>✅ Housekeeping Summary (December 2025)</a:t>
            </a:r>
          </a:p>
          <a:p>
            <a:pPr lvl="0" marL="0" indent="0">
              <a:buNone/>
            </a:pPr>
            <a:r>
              <a:rPr b="1"/>
              <a:t>All documentation web-accessible via Policy Index Dashboard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Policy</a:t>
            </a:r>
            <a:r>
              <a:rPr/>
              <a:t> </a:t>
            </a:r>
            <a:r>
              <a:rPr/>
              <a:t>Index</a:t>
            </a:r>
            <a:r>
              <a:rPr/>
              <a:t> </a:t>
            </a:r>
            <a:r>
              <a:rPr/>
              <a:t>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Audit Preparation in Hours, Not Days</a:t>
            </a:r>
          </a:p>
          <a:p>
            <a:pPr lvl="0" marL="0" indent="0">
              <a:buNone/>
            </a:pPr>
            <a:r>
              <a:rPr b="1"/>
              <a:t>Centralized Compliance Tracking</a:t>
            </a:r>
          </a:p>
          <a:p>
            <a:pPr lvl="1"/>
            <a:r>
              <a:rPr/>
              <a:t>110 NIST 800-171 requirements indexed</a:t>
            </a:r>
          </a:p>
          <a:p>
            <a:pPr lvl="1"/>
            <a:r>
              <a:rPr/>
              <a:t>Policy documents → Control mappings</a:t>
            </a:r>
          </a:p>
          <a:p>
            <a:pPr lvl="1"/>
            <a:r>
              <a:rPr/>
              <a:t>Implementation evidence linked</a:t>
            </a:r>
          </a:p>
          <a:p>
            <a:pPr lvl="1"/>
            <a:r>
              <a:rPr/>
              <a:t>Status tracking (Implemented/Partial/Pending)</a:t>
            </a:r>
          </a:p>
          <a:p>
            <a:pPr lvl="1"/>
            <a:r>
              <a:rPr/>
              <a:t>Last review dates &amp; responsible parties</a:t>
            </a:r>
          </a:p>
          <a:p>
            <a:pPr lvl="0" marL="0" indent="0">
              <a:buNone/>
            </a:pPr>
            <a:r>
              <a:rPr b="1"/>
              <a:t>One-Click Access to:</a:t>
            </a:r>
            <a:r>
              <a:rPr/>
              <a:t> - Compliance artifacts - Policy approval history - Control testing documentation - SSP sections - Continuous monitoring records</a:t>
            </a:r>
          </a:p>
          <a:p>
            <a:pPr lvl="0" marL="0" indent="0">
              <a:buNone/>
            </a:pPr>
            <a:r>
              <a:rPr b="1"/>
              <a:t>Demo:</a:t>
            </a:r>
            <a:r>
              <a:rPr/>
              <a:t> https://192.168.1.10/Policy_Index.html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Next</a:t>
            </a:r>
            <a:r>
              <a:rPr/>
              <a:t> </a:t>
            </a:r>
            <a:r>
              <a:rPr/>
              <a:t>Steps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Continuous Improvement</a:t>
            </a:r>
          </a:p>
          <a:p>
            <a:pPr lvl="0" marL="0" indent="0">
              <a:buNone/>
            </a:pPr>
            <a:r>
              <a:rPr b="1"/>
              <a:t>Q1 2026 (Immediate):</a:t>
            </a:r>
            <a:r>
              <a:rPr/>
              <a:t> - ✅ Complete POA&amp;M-AI-004: AI Service Monitoring - Wazuh integration for AI service health - Automated alerting for service issues</a:t>
            </a:r>
          </a:p>
          <a:p>
            <a:pPr lvl="0" marL="0" indent="0">
              <a:buNone/>
            </a:pPr>
            <a:r>
              <a:rPr b="1"/>
              <a:t>Q2 2026:</a:t>
            </a:r>
            <a:r>
              <a:rPr/>
              <a:t> - Complete POA&amp;M-AI-005: Dependency Update Process - Automated vulnerability scanning (pip-audit) - Monthly dependency updates</a:t>
            </a:r>
          </a:p>
          <a:p>
            <a:pPr lvl="0" marL="0" indent="0">
              <a:buNone/>
            </a:pPr>
            <a:r>
              <a:rPr b="1"/>
              <a:t>Future Enhancements:</a:t>
            </a:r>
            <a:r>
              <a:rPr/>
              <a:t> - Alternative AI models evaluation - Expanded command whitelist (as needed) - Enhanced reporting capabilities - Ticketing system integration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Acknowledgments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Project Support &amp; Recognition</a:t>
            </a:r>
          </a:p>
          <a:p>
            <a:pPr lvl="0" marL="0" indent="0">
              <a:buNone/>
            </a:pPr>
            <a:r>
              <a:rPr b="1"/>
              <a:t>Organizational Support:</a:t>
            </a:r>
            <a:r>
              <a:rPr/>
              <a:t> - </a:t>
            </a:r>
            <a:r>
              <a:rPr b="1"/>
              <a:t>National Contract Management Association (NCMA)</a:t>
            </a:r>
            <a:r>
              <a:rPr/>
              <a:t> - National leadership briefed and supportive - Published in NCMA Journal of Contract Management (2024) - </a:t>
            </a:r>
            <a:r>
              <a:rPr b="1"/>
              <a:t>National Apex Accelerator Alliance (NAPEX)</a:t>
            </a:r>
            <a:r>
              <a:rPr/>
              <a:t> - Project presented to national leadership - Collaboration on VSB outreach</a:t>
            </a:r>
          </a:p>
          <a:p>
            <a:pPr lvl="0" marL="0" indent="0">
              <a:buNone/>
            </a:pPr>
            <a:r>
              <a:rPr b="1"/>
              <a:t>Technical Community:</a:t>
            </a:r>
            <a:r>
              <a:rPr/>
              <a:t> - Rocky Linux Foundation - Wazuh open-source community - FreeIPA development team - Ollama &amp; Aider projects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About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Contract</a:t>
            </a:r>
            <a:r>
              <a:rPr/>
              <a:t> </a:t>
            </a:r>
            <a:r>
              <a:rPr/>
              <a:t>Coach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Donald E. Shannon LLC</a:t>
            </a:r>
          </a:p>
          <a:p>
            <a:pPr lvl="0" marL="0" indent="0">
              <a:buNone/>
            </a:pPr>
            <a:r>
              <a:rPr b="1"/>
              <a:t>Professional Credentials:</a:t>
            </a:r>
            <a:r>
              <a:rPr/>
              <a:t> - PMP® - Project Management Professional - CFCM - Certified Federal Contract Management - CPCM - Certified Professional Contract Management - CCT - Certified Cost Technician - DML - Demonstrated Master Logistician - Active DoD Top-Secret Clearance</a:t>
            </a:r>
          </a:p>
          <a:p>
            <a:pPr lvl="0" marL="0" indent="0">
              <a:buNone/>
            </a:pPr>
            <a:r>
              <a:rPr b="1"/>
              <a:t>Awards:</a:t>
            </a:r>
            <a:r>
              <a:rPr/>
              <a:t> - 2021 NCMA Outstanding Fellow Award</a:t>
            </a:r>
          </a:p>
          <a:p>
            <a:pPr lvl="0" marL="0" indent="0">
              <a:buNone/>
            </a:pPr>
            <a:r>
              <a:rPr b="1"/>
              <a:t>Specialization:</a:t>
            </a:r>
            <a:r>
              <a:rPr/>
              <a:t> - Federal contract management - Cybersecurity compliance consulting - Project management for small businesses - Government acquisition navigation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Contact</a:t>
            </a:r>
            <a:r>
              <a:rPr/>
              <a:t> </a:t>
            </a:r>
            <a:r>
              <a:rPr/>
              <a:t>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Let’s Connect</a:t>
            </a:r>
          </a:p>
          <a:p>
            <a:pPr lvl="0" marL="0" indent="0">
              <a:buNone/>
            </a:pPr>
            <a:r>
              <a:rPr b="1"/>
              <a:t>Business:</a:t>
            </a:r>
            <a:r>
              <a:rPr/>
              <a:t> - The Contract Coach (Donald E. Shannon LLC) - CAGE Code: 5QHR9 - DUNS: 832123793</a:t>
            </a:r>
          </a:p>
          <a:p>
            <a:pPr lvl="0" marL="0" indent="0">
              <a:buNone/>
            </a:pPr>
            <a:r>
              <a:rPr b="1"/>
              <a:t>Contact:</a:t>
            </a:r>
            <a:r>
              <a:rPr/>
              <a:t> - Email: Don@Contract-coach.com - Phone: 505.259.8485 - Website: contract-coach.com</a:t>
            </a:r>
          </a:p>
          <a:p>
            <a:pPr lvl="0" marL="0" indent="0">
              <a:buNone/>
            </a:pPr>
            <a:r>
              <a:rPr b="1"/>
              <a:t>Project Resources:</a:t>
            </a:r>
            <a:r>
              <a:rPr/>
              <a:t> - Policy Index: https://192.168.1.10/Policy_Index.html - AI Dashboard: https://192.168.1.10/ai-dashboard.html - Documentation: https://192.168.1.10/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Key</a:t>
            </a:r>
            <a:r>
              <a:rPr/>
              <a:t> </a:t>
            </a:r>
            <a:r>
              <a:rPr/>
              <a:t>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What You Should Remember</a:t>
            </a:r>
          </a:p>
          <a:p>
            <a:pPr lvl="1">
              <a:buAutoNum type="arabicPeriod"/>
            </a:pPr>
            <a:r>
              <a:rPr b="1"/>
              <a:t>NIST 800-171 compliance IS achievable for VSBs</a:t>
            </a:r>
            <a:r>
              <a:rPr/>
              <a:t> at &lt;10% traditional cost</a:t>
            </a:r>
          </a:p>
          <a:p>
            <a:pPr lvl="1">
              <a:buAutoNum type="arabicPeriod"/>
            </a:pPr>
            <a:r>
              <a:rPr b="1"/>
              <a:t>Open-source enterprise tools</a:t>
            </a:r>
            <a:r>
              <a:rPr/>
              <a:t> are mature, secure, and completely free</a:t>
            </a:r>
          </a:p>
          <a:p>
            <a:pPr lvl="1">
              <a:buAutoNum type="arabicPeriod"/>
            </a:pPr>
            <a:r>
              <a:rPr b="1"/>
              <a:t>AI-assisted administration</a:t>
            </a:r>
            <a:r>
              <a:rPr/>
              <a:t> is possible while maintaining CMMC compliance</a:t>
            </a:r>
          </a:p>
          <a:p>
            <a:pPr lvl="1">
              <a:buAutoNum type="arabicPeriod"/>
            </a:pPr>
            <a:r>
              <a:rPr b="1"/>
              <a:t>The $35K-$50K barrier</a:t>
            </a:r>
            <a:r>
              <a:rPr/>
              <a:t> can be reduced to $3K-$5K with proper approach</a:t>
            </a:r>
          </a:p>
          <a:p>
            <a:pPr lvl="1">
              <a:buAutoNum type="arabicPeriod"/>
            </a:pPr>
            <a:r>
              <a:rPr b="1"/>
              <a:t>Small businesses CAN compete</a:t>
            </a:r>
            <a:r>
              <a:rPr/>
              <a:t> in the Defense Industrial Base</a:t>
            </a:r>
          </a:p>
          <a:p>
            <a:pPr lvl="0" marL="0" indent="0">
              <a:buNone/>
            </a:pPr>
            <a:r>
              <a:rPr b="1"/>
              <a:t>The CyberHygiene Project proves it’s possible.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Discussion &amp; Q&amp;A</a:t>
            </a:r>
          </a:p>
          <a:p>
            <a:pPr lvl="0" marL="0" indent="0">
              <a:buNone/>
            </a:pPr>
            <a:r>
              <a:rPr b="1"/>
              <a:t>Topics for Discussion:</a:t>
            </a:r>
          </a:p>
          <a:p>
            <a:pPr lvl="1"/>
            <a:r>
              <a:rPr/>
              <a:t>Implementation details and timelines</a:t>
            </a:r>
          </a:p>
          <a:p>
            <a:pPr lvl="1"/>
            <a:r>
              <a:rPr/>
              <a:t>Specific NIST control implementations</a:t>
            </a:r>
          </a:p>
          <a:p>
            <a:pPr lvl="1"/>
            <a:r>
              <a:rPr/>
              <a:t>AI infrastructure deployment</a:t>
            </a:r>
          </a:p>
          <a:p>
            <a:pPr lvl="1"/>
            <a:r>
              <a:rPr/>
              <a:t>Cost comparisons and ROI</a:t>
            </a:r>
          </a:p>
          <a:p>
            <a:pPr lvl="1"/>
            <a:r>
              <a:rPr/>
              <a:t>Applicability to your organization</a:t>
            </a:r>
          </a:p>
          <a:p>
            <a:pPr lvl="1"/>
            <a:r>
              <a:rPr/>
              <a:t>CMMC assessment readiness</a:t>
            </a:r>
          </a:p>
          <a:p>
            <a:pPr lvl="0" marL="0" indent="0">
              <a:buNone/>
            </a:pPr>
            <a:r>
              <a:rPr b="1"/>
              <a:t>Contact:</a:t>
            </a:r>
            <a:r>
              <a:rPr/>
              <a:t> Don@Contract-coach.com | 505.259.8485</a:t>
            </a:r>
          </a:p>
          <a:p>
            <a:pPr lvl="0" marL="0" indent="0">
              <a:buNone/>
            </a:pPr>
            <a:r>
              <a:rPr b="1"/>
              <a:t>Documentation Access:</a:t>
            </a:r>
            <a:r>
              <a:rPr/>
              <a:t> https://192.168.1.10/Policy_Index.html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Thank</a:t>
            </a:r>
            <a:r>
              <a:rPr/>
              <a:t> </a:t>
            </a:r>
            <a:r>
              <a:rPr/>
              <a:t>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The CyberHygiene Project</a:t>
            </a:r>
          </a:p>
          <a:p>
            <a:pPr lvl="0" marL="0" indent="0">
              <a:buNone/>
            </a:pPr>
            <a:r>
              <a:rPr i="1"/>
              <a:t>Making enterprise-grade cybersecurity accessible to small defense contractors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Donald E. Shannon, PMP, CFCM, CPCM</a:t>
            </a:r>
            <a:r>
              <a:rPr/>
              <a:t> The Contract Coach</a:t>
            </a:r>
          </a:p>
          <a:p>
            <a:pPr lvl="0" marL="0" indent="0">
              <a:buNone/>
            </a:pPr>
            <a:r>
              <a:rPr/>
              <a:t>don@contract-coach.com | 505.259.8485</a:t>
            </a:r>
          </a:p>
          <a:p>
            <a:pPr lvl="0" marL="0" indent="0">
              <a:buNone/>
            </a:pPr>
            <a:r>
              <a:rPr/>
              <a:t>NCMA Nexus 2026 | Atlanta, GA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i="1"/>
              <a:t>This presentation demonstrates a production-ready reference implementation. Individual results may vary. Consult with qualified professionals for your specific compliance needs.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CyberHygiene Project</dc:title>
  <dc:creator>Donald E. Shannon, PMP, CFCM, CPCM</dc:creator>
  <cp:keywords/>
  <dcterms:created xsi:type="dcterms:W3CDTF">2025-12-24T20:25:05Z</dcterms:created>
  <dcterms:modified xsi:type="dcterms:W3CDTF">2025-12-24T20:25:05Z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February 2026</vt:lpwstr>
  </property>
  <property fmtid="{D5CDD505-2E9C-101B-9397-08002B2CF9AE}" pid="3" name="institute">
    <vt:lpwstr>The Contract Coach | NCMA Nexus 2026</vt:lpwstr>
  </property>
  <property fmtid="{D5CDD505-2E9C-101B-9397-08002B2CF9AE}" pid="4" name="subtitle">
    <vt:lpwstr>Affordable NIST 800-171 Compliance for Small Defense Contractors</vt:lpwstr>
  </property>
  <property fmtid="{D5CDD505-2E9C-101B-9397-08002B2CF9AE}" pid="5" name="theme">
    <vt:lpwstr>default</vt:lpwstr>
  </property>
</Properties>
</file>